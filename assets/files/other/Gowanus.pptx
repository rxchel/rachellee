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256" r:id="rId5"/>
    <p:sldId id="258" r:id="rId6"/>
    <p:sldId id="260" r:id="rId7"/>
    <p:sldId id="259" r:id="rId8"/>
    <p:sldId id="261" r:id="rId9"/>
    <p:sldId id="262" r:id="rId10"/>
    <p:sldId id="263" r:id="rId11"/>
    <p:sldId id="264" r:id="rId12"/>
    <p:sldId id="265" r:id="rId13"/>
    <p:sldId id="266"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92A1"/>
    <a:srgbClr val="C5B37B"/>
    <a:srgbClr val="B7988D"/>
    <a:srgbClr val="BAA6CA"/>
    <a:srgbClr val="CDA3CB"/>
    <a:srgbClr val="D39DCB"/>
    <a:srgbClr val="BF8FA1"/>
    <a:srgbClr val="B68095"/>
    <a:srgbClr val="A3B595"/>
    <a:srgbClr val="94A5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16C978-F303-4C13-A3FD-942552A9200F}" v="11" dt="2025-12-19T00:32:34.0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el Lee" userId="S::rachel.lee@cooper.edu::1e6d89d1-e4fd-43f5-a327-07cb59c18127" providerId="AD" clId="Web-{0616C978-F303-4C13-A3FD-942552A9200F}"/>
    <pc:docChg chg="modSld">
      <pc:chgData name="Rachel Lee" userId="S::rachel.lee@cooper.edu::1e6d89d1-e4fd-43f5-a327-07cb59c18127" providerId="AD" clId="Web-{0616C978-F303-4C13-A3FD-942552A9200F}" dt="2025-12-19T00:32:34.003" v="9"/>
      <pc:docMkLst>
        <pc:docMk/>
      </pc:docMkLst>
      <pc:sldChg chg="addSp delSp modSp">
        <pc:chgData name="Rachel Lee" userId="S::rachel.lee@cooper.edu::1e6d89d1-e4fd-43f5-a327-07cb59c18127" providerId="AD" clId="Web-{0616C978-F303-4C13-A3FD-942552A9200F}" dt="2025-12-19T00:32:34.003" v="9"/>
        <pc:sldMkLst>
          <pc:docMk/>
          <pc:sldMk cId="461422344" sldId="258"/>
        </pc:sldMkLst>
        <pc:spChg chg="add del mod">
          <ac:chgData name="Rachel Lee" userId="S::rachel.lee@cooper.edu::1e6d89d1-e4fd-43f5-a327-07cb59c18127" providerId="AD" clId="Web-{0616C978-F303-4C13-A3FD-942552A9200F}" dt="2025-12-19T00:32:34.003" v="9"/>
          <ac:spMkLst>
            <pc:docMk/>
            <pc:sldMk cId="461422344" sldId="258"/>
            <ac:spMk id="6" creationId="{51D6FF9A-0D0C-3513-EEDD-8D97343293B1}"/>
          </ac:spMkLst>
        </pc:spChg>
      </pc:sldChg>
      <pc:sldChg chg="modSp">
        <pc:chgData name="Rachel Lee" userId="S::rachel.lee@cooper.edu::1e6d89d1-e4fd-43f5-a327-07cb59c18127" providerId="AD" clId="Web-{0616C978-F303-4C13-A3FD-942552A9200F}" dt="2025-12-19T00:26:33.699" v="1" actId="1076"/>
        <pc:sldMkLst>
          <pc:docMk/>
          <pc:sldMk cId="3140541631" sldId="259"/>
        </pc:sldMkLst>
        <pc:spChg chg="mod">
          <ac:chgData name="Rachel Lee" userId="S::rachel.lee@cooper.edu::1e6d89d1-e4fd-43f5-a327-07cb59c18127" providerId="AD" clId="Web-{0616C978-F303-4C13-A3FD-942552A9200F}" dt="2025-12-19T00:26:33.699" v="1" actId="1076"/>
          <ac:spMkLst>
            <pc:docMk/>
            <pc:sldMk cId="3140541631" sldId="259"/>
            <ac:spMk id="12" creationId="{7E2C2AB1-0C29-0CD6-6F34-6F4D76E435C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4C968B-B017-499F-B5E4-BC4E1BE7AA9C}"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EF6EF0-1064-42F1-849A-2E776913EEF7}" type="slidenum">
              <a:rPr lang="en-US" smtClean="0"/>
              <a:t>‹#›</a:t>
            </a:fld>
            <a:endParaRPr lang="en-US"/>
          </a:p>
        </p:txBody>
      </p:sp>
    </p:spTree>
    <p:extLst>
      <p:ext uri="{BB962C8B-B14F-4D97-AF65-F5344CB8AC3E}">
        <p14:creationId xmlns:p14="http://schemas.microsoft.com/office/powerpoint/2010/main" val="777939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cumulis.epa.gov/supercpad/SiteProfiles/index.cfm?fuseaction=second.cleanup&amp;id=0206222"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EF6EF0-1064-42F1-849A-2E776913EEF7}" type="slidenum">
              <a:rPr lang="en-US" smtClean="0"/>
              <a:t>1</a:t>
            </a:fld>
            <a:endParaRPr lang="en-US"/>
          </a:p>
        </p:txBody>
      </p:sp>
    </p:spTree>
    <p:extLst>
      <p:ext uri="{BB962C8B-B14F-4D97-AF65-F5344CB8AC3E}">
        <p14:creationId xmlns:p14="http://schemas.microsoft.com/office/powerpoint/2010/main" val="96049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AC3CB-A025-B184-A520-78E1AE3039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EE1295-9214-9A62-B3D6-9BF223A7EF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8FF65E-D265-5DA3-DC1F-EB2DE0E0D1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4BD62D-0CA3-280B-9F7F-4E6B46746757}"/>
              </a:ext>
            </a:extLst>
          </p:cNvPr>
          <p:cNvSpPr>
            <a:spLocks noGrp="1"/>
          </p:cNvSpPr>
          <p:nvPr>
            <p:ph type="sldNum" sz="quarter" idx="5"/>
          </p:nvPr>
        </p:nvSpPr>
        <p:spPr/>
        <p:txBody>
          <a:bodyPr/>
          <a:lstStyle/>
          <a:p>
            <a:fld id="{94EF6EF0-1064-42F1-849A-2E776913EEF7}" type="slidenum">
              <a:rPr lang="en-US" smtClean="0"/>
              <a:t>2</a:t>
            </a:fld>
            <a:endParaRPr lang="en-US"/>
          </a:p>
        </p:txBody>
      </p:sp>
    </p:spTree>
    <p:extLst>
      <p:ext uri="{BB962C8B-B14F-4D97-AF65-F5344CB8AC3E}">
        <p14:creationId xmlns:p14="http://schemas.microsoft.com/office/powerpoint/2010/main" val="2286495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6A685-CE4D-7823-5C5F-59DE027D6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E6592-CBAD-EE39-84A0-41757AB64B9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0FD767-DE35-C178-434F-1E7AF054622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BEDA0E0-F142-1BF5-10AD-314E7E7C3A57}"/>
              </a:ext>
            </a:extLst>
          </p:cNvPr>
          <p:cNvSpPr>
            <a:spLocks noGrp="1"/>
          </p:cNvSpPr>
          <p:nvPr>
            <p:ph type="sldNum" sz="quarter" idx="5"/>
          </p:nvPr>
        </p:nvSpPr>
        <p:spPr/>
        <p:txBody>
          <a:bodyPr/>
          <a:lstStyle/>
          <a:p>
            <a:fld id="{94EF6EF0-1064-42F1-849A-2E776913EEF7}" type="slidenum">
              <a:rPr lang="en-US" smtClean="0"/>
              <a:t>4</a:t>
            </a:fld>
            <a:endParaRPr lang="en-US"/>
          </a:p>
        </p:txBody>
      </p:sp>
    </p:spTree>
    <p:extLst>
      <p:ext uri="{BB962C8B-B14F-4D97-AF65-F5344CB8AC3E}">
        <p14:creationId xmlns:p14="http://schemas.microsoft.com/office/powerpoint/2010/main" val="2004854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99A8F-E53C-49C7-C818-CAD89B438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E1D0D-4F76-55F2-EADE-405C991A22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7808F2-AB53-016B-49E0-69896B2BCCB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5AEAFC-DBCF-896B-04FF-B99E9B1ACFFF}"/>
              </a:ext>
            </a:extLst>
          </p:cNvPr>
          <p:cNvSpPr>
            <a:spLocks noGrp="1"/>
          </p:cNvSpPr>
          <p:nvPr>
            <p:ph type="sldNum" sz="quarter" idx="5"/>
          </p:nvPr>
        </p:nvSpPr>
        <p:spPr/>
        <p:txBody>
          <a:bodyPr/>
          <a:lstStyle/>
          <a:p>
            <a:fld id="{94EF6EF0-1064-42F1-849A-2E776913EEF7}" type="slidenum">
              <a:rPr lang="en-US" smtClean="0"/>
              <a:t>5</a:t>
            </a:fld>
            <a:endParaRPr lang="en-US"/>
          </a:p>
        </p:txBody>
      </p:sp>
    </p:spTree>
    <p:extLst>
      <p:ext uri="{BB962C8B-B14F-4D97-AF65-F5344CB8AC3E}">
        <p14:creationId xmlns:p14="http://schemas.microsoft.com/office/powerpoint/2010/main" val="2424619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E6BE9-3059-4374-22A1-AE501AEC4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7AA98-82C4-A1EE-77C7-EAA169C747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FA7836D-C1B7-B23A-9899-3721BA8BE9CB}"/>
              </a:ext>
            </a:extLst>
          </p:cNvPr>
          <p:cNvSpPr>
            <a:spLocks noGrp="1"/>
          </p:cNvSpPr>
          <p:nvPr>
            <p:ph type="body" idx="1"/>
          </p:nvPr>
        </p:nvSpPr>
        <p:spPr/>
        <p:txBody>
          <a:bodyPr/>
          <a:lstStyle/>
          <a:p>
            <a:r>
              <a:rPr lang="en-US"/>
              <a:t>- </a:t>
            </a:r>
            <a:r>
              <a:rPr lang="en-US">
                <a:hlinkClick r:id="rId3"/>
              </a:rPr>
              <a:t>GOWANUS CANAL | Superfund Site Profile | Superfund Site Information | US EPA</a:t>
            </a:r>
            <a:endParaRPr lang="en-US"/>
          </a:p>
        </p:txBody>
      </p:sp>
      <p:sp>
        <p:nvSpPr>
          <p:cNvPr id="4" name="Slide Number Placeholder 3">
            <a:extLst>
              <a:ext uri="{FF2B5EF4-FFF2-40B4-BE49-F238E27FC236}">
                <a16:creationId xmlns:a16="http://schemas.microsoft.com/office/drawing/2014/main" id="{58F53F0E-25C1-A279-D5B8-09814147E307}"/>
              </a:ext>
            </a:extLst>
          </p:cNvPr>
          <p:cNvSpPr>
            <a:spLocks noGrp="1"/>
          </p:cNvSpPr>
          <p:nvPr>
            <p:ph type="sldNum" sz="quarter" idx="5"/>
          </p:nvPr>
        </p:nvSpPr>
        <p:spPr/>
        <p:txBody>
          <a:bodyPr/>
          <a:lstStyle/>
          <a:p>
            <a:fld id="{94EF6EF0-1064-42F1-849A-2E776913EEF7}" type="slidenum">
              <a:rPr lang="en-US" smtClean="0"/>
              <a:t>6</a:t>
            </a:fld>
            <a:endParaRPr lang="en-US"/>
          </a:p>
        </p:txBody>
      </p:sp>
    </p:spTree>
    <p:extLst>
      <p:ext uri="{BB962C8B-B14F-4D97-AF65-F5344CB8AC3E}">
        <p14:creationId xmlns:p14="http://schemas.microsoft.com/office/powerpoint/2010/main" val="2402224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4EF6EF0-1064-42F1-849A-2E776913EEF7}" type="slidenum">
              <a:rPr lang="en-US" smtClean="0"/>
              <a:t>7</a:t>
            </a:fld>
            <a:endParaRPr lang="en-US"/>
          </a:p>
        </p:txBody>
      </p:sp>
    </p:spTree>
    <p:extLst>
      <p:ext uri="{BB962C8B-B14F-4D97-AF65-F5344CB8AC3E}">
        <p14:creationId xmlns:p14="http://schemas.microsoft.com/office/powerpoint/2010/main" val="3838899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3E296-CE6D-8971-8EF3-0694D8FAE3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22538-862F-CF25-3FD0-029074C648D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A3F1E49-5F3F-B1C4-D9DA-7F940E71A1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F52A84-3F2D-D022-BE96-D7C270BD0A23}"/>
              </a:ext>
            </a:extLst>
          </p:cNvPr>
          <p:cNvSpPr>
            <a:spLocks noGrp="1"/>
          </p:cNvSpPr>
          <p:nvPr>
            <p:ph type="sldNum" sz="quarter" idx="5"/>
          </p:nvPr>
        </p:nvSpPr>
        <p:spPr/>
        <p:txBody>
          <a:bodyPr/>
          <a:lstStyle/>
          <a:p>
            <a:fld id="{94EF6EF0-1064-42F1-849A-2E776913EEF7}" type="slidenum">
              <a:rPr lang="en-US" smtClean="0"/>
              <a:t>8</a:t>
            </a:fld>
            <a:endParaRPr lang="en-US"/>
          </a:p>
        </p:txBody>
      </p:sp>
    </p:spTree>
    <p:extLst>
      <p:ext uri="{BB962C8B-B14F-4D97-AF65-F5344CB8AC3E}">
        <p14:creationId xmlns:p14="http://schemas.microsoft.com/office/powerpoint/2010/main" val="2992197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19657-4F37-6907-98AE-B2DCF23197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2CBB9D-A352-BE7C-C33A-C321F8D6636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166FDB3-3B5E-DF2F-4A87-62DC07630C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AAC43F-D40D-1782-6B0F-FBCF5C1E5E78}"/>
              </a:ext>
            </a:extLst>
          </p:cNvPr>
          <p:cNvSpPr>
            <a:spLocks noGrp="1"/>
          </p:cNvSpPr>
          <p:nvPr>
            <p:ph type="sldNum" sz="quarter" idx="5"/>
          </p:nvPr>
        </p:nvSpPr>
        <p:spPr/>
        <p:txBody>
          <a:bodyPr/>
          <a:lstStyle/>
          <a:p>
            <a:fld id="{94EF6EF0-1064-42F1-849A-2E776913EEF7}" type="slidenum">
              <a:rPr lang="en-US" smtClean="0"/>
              <a:t>9</a:t>
            </a:fld>
            <a:endParaRPr lang="en-US"/>
          </a:p>
        </p:txBody>
      </p:sp>
    </p:spTree>
    <p:extLst>
      <p:ext uri="{BB962C8B-B14F-4D97-AF65-F5344CB8AC3E}">
        <p14:creationId xmlns:p14="http://schemas.microsoft.com/office/powerpoint/2010/main" val="1318964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FEC9F-BCF7-438C-DD95-019C84F06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B63DB-2459-30D8-BA52-0E635BF61E2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1B6166-19A0-4492-C489-A6DFA16820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7CE297-05F3-6B80-340C-33D41FAA88C7}"/>
              </a:ext>
            </a:extLst>
          </p:cNvPr>
          <p:cNvSpPr>
            <a:spLocks noGrp="1"/>
          </p:cNvSpPr>
          <p:nvPr>
            <p:ph type="sldNum" sz="quarter" idx="5"/>
          </p:nvPr>
        </p:nvSpPr>
        <p:spPr/>
        <p:txBody>
          <a:bodyPr/>
          <a:lstStyle/>
          <a:p>
            <a:fld id="{94EF6EF0-1064-42F1-849A-2E776913EEF7}" type="slidenum">
              <a:rPr lang="en-US" smtClean="0"/>
              <a:t>10</a:t>
            </a:fld>
            <a:endParaRPr lang="en-US"/>
          </a:p>
        </p:txBody>
      </p:sp>
    </p:spTree>
    <p:extLst>
      <p:ext uri="{BB962C8B-B14F-4D97-AF65-F5344CB8AC3E}">
        <p14:creationId xmlns:p14="http://schemas.microsoft.com/office/powerpoint/2010/main" val="8830237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7346B-5D01-526A-A547-574490CB5E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A492E-3AB5-C894-AA99-62CBAA8316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D2C05F-446E-378A-9099-F954E0F909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A95894-EDB2-ED85-AAA6-CEE96289963B}"/>
              </a:ext>
            </a:extLst>
          </p:cNvPr>
          <p:cNvSpPr>
            <a:spLocks noGrp="1"/>
          </p:cNvSpPr>
          <p:nvPr>
            <p:ph type="sldNum" sz="quarter" idx="5"/>
          </p:nvPr>
        </p:nvSpPr>
        <p:spPr/>
        <p:txBody>
          <a:bodyPr/>
          <a:lstStyle/>
          <a:p>
            <a:fld id="{94EF6EF0-1064-42F1-849A-2E776913EEF7}" type="slidenum">
              <a:rPr lang="en-US" smtClean="0"/>
              <a:t>11</a:t>
            </a:fld>
            <a:endParaRPr lang="en-US"/>
          </a:p>
        </p:txBody>
      </p:sp>
    </p:spTree>
    <p:extLst>
      <p:ext uri="{BB962C8B-B14F-4D97-AF65-F5344CB8AC3E}">
        <p14:creationId xmlns:p14="http://schemas.microsoft.com/office/powerpoint/2010/main" val="677963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AF972-66B5-7C50-1931-4A99100A1D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886B64-E2FD-53EA-1E29-0AEC6703F6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A8C390-7FD0-DDEE-FF5C-59139662C4D5}"/>
              </a:ext>
            </a:extLst>
          </p:cNvPr>
          <p:cNvSpPr>
            <a:spLocks noGrp="1"/>
          </p:cNvSpPr>
          <p:nvPr>
            <p:ph type="dt" sz="half" idx="10"/>
          </p:nvPr>
        </p:nvSpPr>
        <p:spPr/>
        <p:txBody>
          <a:bodyPr/>
          <a:lstStyle/>
          <a:p>
            <a:fld id="{57D0B835-627D-4140-99BB-28E834E7DD70}" type="datetimeFigureOut">
              <a:rPr lang="en-US" smtClean="0"/>
              <a:t>8/27/2026</a:t>
            </a:fld>
            <a:endParaRPr lang="en-US"/>
          </a:p>
        </p:txBody>
      </p:sp>
      <p:sp>
        <p:nvSpPr>
          <p:cNvPr id="5" name="Footer Placeholder 4">
            <a:extLst>
              <a:ext uri="{FF2B5EF4-FFF2-40B4-BE49-F238E27FC236}">
                <a16:creationId xmlns:a16="http://schemas.microsoft.com/office/drawing/2014/main" id="{21E5F1EE-900C-199C-DA3A-CF1BCC88B8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AD378A-7458-0112-C6A8-6F8314EF9F51}"/>
              </a:ext>
            </a:extLst>
          </p:cNvPr>
          <p:cNvSpPr>
            <a:spLocks noGrp="1"/>
          </p:cNvSpPr>
          <p:nvPr>
            <p:ph type="sldNum" sz="quarter" idx="12"/>
          </p:nvPr>
        </p:nvSpPr>
        <p:spPr/>
        <p:txBody>
          <a:bodyPr/>
          <a:lstStyle/>
          <a:p>
            <a:fld id="{3571B69D-4F29-4F75-A10B-8CE261D2978D}" type="slidenum">
              <a:rPr lang="en-US" smtClean="0"/>
              <a:t>‹#›</a:t>
            </a:fld>
            <a:endParaRPr lang="en-US"/>
          </a:p>
        </p:txBody>
      </p:sp>
    </p:spTree>
    <p:extLst>
      <p:ext uri="{BB962C8B-B14F-4D97-AF65-F5344CB8AC3E}">
        <p14:creationId xmlns:p14="http://schemas.microsoft.com/office/powerpoint/2010/main" val="2216903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9CB3-C7FD-7277-813D-F5F6631B97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2DD2C5-B4CA-8916-5E8F-77DC9D6257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AA5BF5-7C24-E2D0-41E7-9F0C41BC0B41}"/>
              </a:ext>
            </a:extLst>
          </p:cNvPr>
          <p:cNvSpPr>
            <a:spLocks noGrp="1"/>
          </p:cNvSpPr>
          <p:nvPr>
            <p:ph type="dt" sz="half" idx="10"/>
          </p:nvPr>
        </p:nvSpPr>
        <p:spPr/>
        <p:txBody>
          <a:bodyPr/>
          <a:lstStyle/>
          <a:p>
            <a:fld id="{57D0B835-627D-4140-99BB-28E834E7DD70}" type="datetimeFigureOut">
              <a:rPr lang="en-US" smtClean="0"/>
              <a:t>8/27/2026</a:t>
            </a:fld>
            <a:endParaRPr lang="en-US"/>
          </a:p>
        </p:txBody>
      </p:sp>
      <p:sp>
        <p:nvSpPr>
          <p:cNvPr id="5" name="Footer Placeholder 4">
            <a:extLst>
              <a:ext uri="{FF2B5EF4-FFF2-40B4-BE49-F238E27FC236}">
                <a16:creationId xmlns:a16="http://schemas.microsoft.com/office/drawing/2014/main" id="{8AA6E87F-955E-2854-5728-A6E0FED946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B5E30C-0B55-DA7B-A2C3-724A94CAD9E9}"/>
              </a:ext>
            </a:extLst>
          </p:cNvPr>
          <p:cNvSpPr>
            <a:spLocks noGrp="1"/>
          </p:cNvSpPr>
          <p:nvPr>
            <p:ph type="sldNum" sz="quarter" idx="12"/>
          </p:nvPr>
        </p:nvSpPr>
        <p:spPr/>
        <p:txBody>
          <a:bodyPr/>
          <a:lstStyle/>
          <a:p>
            <a:fld id="{3571B69D-4F29-4F75-A10B-8CE261D2978D}" type="slidenum">
              <a:rPr lang="en-US" smtClean="0"/>
              <a:t>‹#›</a:t>
            </a:fld>
            <a:endParaRPr lang="en-US"/>
          </a:p>
        </p:txBody>
      </p:sp>
    </p:spTree>
    <p:extLst>
      <p:ext uri="{BB962C8B-B14F-4D97-AF65-F5344CB8AC3E}">
        <p14:creationId xmlns:p14="http://schemas.microsoft.com/office/powerpoint/2010/main" val="2865887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913F-B790-5429-CC30-FD8E0DE010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CA56DE-050C-E6C4-4F34-A98AAD12A8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6DFB4F-6472-2A08-B50F-130DEE84BBB2}"/>
              </a:ext>
            </a:extLst>
          </p:cNvPr>
          <p:cNvSpPr>
            <a:spLocks noGrp="1"/>
          </p:cNvSpPr>
          <p:nvPr>
            <p:ph type="dt" sz="half" idx="10"/>
          </p:nvPr>
        </p:nvSpPr>
        <p:spPr/>
        <p:txBody>
          <a:bodyPr/>
          <a:lstStyle/>
          <a:p>
            <a:fld id="{57D0B835-627D-4140-99BB-28E834E7DD70}" type="datetimeFigureOut">
              <a:rPr lang="en-US" smtClean="0"/>
              <a:t>8/27/2026</a:t>
            </a:fld>
            <a:endParaRPr lang="en-US"/>
          </a:p>
        </p:txBody>
      </p:sp>
      <p:sp>
        <p:nvSpPr>
          <p:cNvPr id="5" name="Footer Placeholder 4">
            <a:extLst>
              <a:ext uri="{FF2B5EF4-FFF2-40B4-BE49-F238E27FC236}">
                <a16:creationId xmlns:a16="http://schemas.microsoft.com/office/drawing/2014/main" id="{303F67C0-C3E9-1371-69E4-801867FD5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28A3F6-1029-2C7D-A963-A0CBCD53A2D5}"/>
              </a:ext>
            </a:extLst>
          </p:cNvPr>
          <p:cNvSpPr>
            <a:spLocks noGrp="1"/>
          </p:cNvSpPr>
          <p:nvPr>
            <p:ph type="sldNum" sz="quarter" idx="12"/>
          </p:nvPr>
        </p:nvSpPr>
        <p:spPr/>
        <p:txBody>
          <a:bodyPr/>
          <a:lstStyle/>
          <a:p>
            <a:fld id="{3571B69D-4F29-4F75-A10B-8CE261D2978D}" type="slidenum">
              <a:rPr lang="en-US" smtClean="0"/>
              <a:t>‹#›</a:t>
            </a:fld>
            <a:endParaRPr lang="en-US"/>
          </a:p>
        </p:txBody>
      </p:sp>
    </p:spTree>
    <p:extLst>
      <p:ext uri="{BB962C8B-B14F-4D97-AF65-F5344CB8AC3E}">
        <p14:creationId xmlns:p14="http://schemas.microsoft.com/office/powerpoint/2010/main" val="1187176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C63AE-3771-3AFD-2398-3258BCE484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57A9E5-8954-2B87-055C-26331F7AC8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9CE951-80EE-846F-4347-39A6670B88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13821C-8BB3-86AF-602B-CEA3613D31C5}"/>
              </a:ext>
            </a:extLst>
          </p:cNvPr>
          <p:cNvSpPr>
            <a:spLocks noGrp="1"/>
          </p:cNvSpPr>
          <p:nvPr>
            <p:ph type="dt" sz="half" idx="10"/>
          </p:nvPr>
        </p:nvSpPr>
        <p:spPr/>
        <p:txBody>
          <a:bodyPr/>
          <a:lstStyle/>
          <a:p>
            <a:fld id="{57D0B835-627D-4140-99BB-28E834E7DD70}" type="datetimeFigureOut">
              <a:rPr lang="en-US" smtClean="0"/>
              <a:t>8/27/2026</a:t>
            </a:fld>
            <a:endParaRPr lang="en-US"/>
          </a:p>
        </p:txBody>
      </p:sp>
      <p:sp>
        <p:nvSpPr>
          <p:cNvPr id="6" name="Footer Placeholder 5">
            <a:extLst>
              <a:ext uri="{FF2B5EF4-FFF2-40B4-BE49-F238E27FC236}">
                <a16:creationId xmlns:a16="http://schemas.microsoft.com/office/drawing/2014/main" id="{DF5B5EE5-C581-DE49-C51F-68722B0BDB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1F50FC-0D11-EAB8-EEFE-BD440A33DB79}"/>
              </a:ext>
            </a:extLst>
          </p:cNvPr>
          <p:cNvSpPr>
            <a:spLocks noGrp="1"/>
          </p:cNvSpPr>
          <p:nvPr>
            <p:ph type="sldNum" sz="quarter" idx="12"/>
          </p:nvPr>
        </p:nvSpPr>
        <p:spPr/>
        <p:txBody>
          <a:bodyPr/>
          <a:lstStyle/>
          <a:p>
            <a:fld id="{3571B69D-4F29-4F75-A10B-8CE261D2978D}" type="slidenum">
              <a:rPr lang="en-US" smtClean="0"/>
              <a:t>‹#›</a:t>
            </a:fld>
            <a:endParaRPr lang="en-US"/>
          </a:p>
        </p:txBody>
      </p:sp>
    </p:spTree>
    <p:extLst>
      <p:ext uri="{BB962C8B-B14F-4D97-AF65-F5344CB8AC3E}">
        <p14:creationId xmlns:p14="http://schemas.microsoft.com/office/powerpoint/2010/main" val="1989748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5532E-C074-310F-39C3-5E6D5A28584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52A5C3-3BDD-DC79-8441-24E98180D1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71EE36-8694-FD4D-F5F5-EACC0D69B8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05B260A-21F2-35AE-D863-9905A1A325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9EFAF1-957D-9E82-927F-5D22AB8A2A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20D9F4-656C-8D9A-7387-CE9ED5B97F7E}"/>
              </a:ext>
            </a:extLst>
          </p:cNvPr>
          <p:cNvSpPr>
            <a:spLocks noGrp="1"/>
          </p:cNvSpPr>
          <p:nvPr>
            <p:ph type="dt" sz="half" idx="10"/>
          </p:nvPr>
        </p:nvSpPr>
        <p:spPr/>
        <p:txBody>
          <a:bodyPr/>
          <a:lstStyle/>
          <a:p>
            <a:fld id="{57D0B835-627D-4140-99BB-28E834E7DD70}" type="datetimeFigureOut">
              <a:rPr lang="en-US" smtClean="0"/>
              <a:t>8/27/2026</a:t>
            </a:fld>
            <a:endParaRPr lang="en-US"/>
          </a:p>
        </p:txBody>
      </p:sp>
      <p:sp>
        <p:nvSpPr>
          <p:cNvPr id="8" name="Footer Placeholder 7">
            <a:extLst>
              <a:ext uri="{FF2B5EF4-FFF2-40B4-BE49-F238E27FC236}">
                <a16:creationId xmlns:a16="http://schemas.microsoft.com/office/drawing/2014/main" id="{47A73EB5-E86F-14B4-8204-DB11D8236C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22A6B7-194A-EFB9-0492-ED0701289F1E}"/>
              </a:ext>
            </a:extLst>
          </p:cNvPr>
          <p:cNvSpPr>
            <a:spLocks noGrp="1"/>
          </p:cNvSpPr>
          <p:nvPr>
            <p:ph type="sldNum" sz="quarter" idx="12"/>
          </p:nvPr>
        </p:nvSpPr>
        <p:spPr/>
        <p:txBody>
          <a:bodyPr/>
          <a:lstStyle/>
          <a:p>
            <a:fld id="{3571B69D-4F29-4F75-A10B-8CE261D2978D}" type="slidenum">
              <a:rPr lang="en-US" smtClean="0"/>
              <a:t>‹#›</a:t>
            </a:fld>
            <a:endParaRPr lang="en-US"/>
          </a:p>
        </p:txBody>
      </p:sp>
    </p:spTree>
    <p:extLst>
      <p:ext uri="{BB962C8B-B14F-4D97-AF65-F5344CB8AC3E}">
        <p14:creationId xmlns:p14="http://schemas.microsoft.com/office/powerpoint/2010/main" val="2681214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DEC15-0AD2-B04F-9785-C862F4BCB3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6214D7A-9E1D-21E4-4114-21E4CD2C90D0}"/>
              </a:ext>
            </a:extLst>
          </p:cNvPr>
          <p:cNvSpPr>
            <a:spLocks noGrp="1"/>
          </p:cNvSpPr>
          <p:nvPr>
            <p:ph type="dt" sz="half" idx="10"/>
          </p:nvPr>
        </p:nvSpPr>
        <p:spPr/>
        <p:txBody>
          <a:bodyPr/>
          <a:lstStyle/>
          <a:p>
            <a:fld id="{57D0B835-627D-4140-99BB-28E834E7DD70}" type="datetimeFigureOut">
              <a:rPr lang="en-US" smtClean="0"/>
              <a:t>8/27/2026</a:t>
            </a:fld>
            <a:endParaRPr lang="en-US"/>
          </a:p>
        </p:txBody>
      </p:sp>
      <p:sp>
        <p:nvSpPr>
          <p:cNvPr id="4" name="Footer Placeholder 3">
            <a:extLst>
              <a:ext uri="{FF2B5EF4-FFF2-40B4-BE49-F238E27FC236}">
                <a16:creationId xmlns:a16="http://schemas.microsoft.com/office/drawing/2014/main" id="{AD68062E-780B-F8C1-D181-DC72F81F40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4032C3-6844-BE34-CC9B-FB1E528939F9}"/>
              </a:ext>
            </a:extLst>
          </p:cNvPr>
          <p:cNvSpPr>
            <a:spLocks noGrp="1"/>
          </p:cNvSpPr>
          <p:nvPr>
            <p:ph type="sldNum" sz="quarter" idx="12"/>
          </p:nvPr>
        </p:nvSpPr>
        <p:spPr/>
        <p:txBody>
          <a:bodyPr/>
          <a:lstStyle/>
          <a:p>
            <a:fld id="{3571B69D-4F29-4F75-A10B-8CE261D2978D}" type="slidenum">
              <a:rPr lang="en-US" smtClean="0"/>
              <a:t>‹#›</a:t>
            </a:fld>
            <a:endParaRPr lang="en-US"/>
          </a:p>
        </p:txBody>
      </p:sp>
    </p:spTree>
    <p:extLst>
      <p:ext uri="{BB962C8B-B14F-4D97-AF65-F5344CB8AC3E}">
        <p14:creationId xmlns:p14="http://schemas.microsoft.com/office/powerpoint/2010/main" val="3314166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1470AA-95F5-801D-5EAD-1893E8F445C3}"/>
              </a:ext>
            </a:extLst>
          </p:cNvPr>
          <p:cNvSpPr>
            <a:spLocks noGrp="1"/>
          </p:cNvSpPr>
          <p:nvPr>
            <p:ph type="dt" sz="half" idx="10"/>
          </p:nvPr>
        </p:nvSpPr>
        <p:spPr/>
        <p:txBody>
          <a:bodyPr/>
          <a:lstStyle/>
          <a:p>
            <a:fld id="{57D0B835-627D-4140-99BB-28E834E7DD70}" type="datetimeFigureOut">
              <a:rPr lang="en-US" smtClean="0"/>
              <a:t>8/27/2026</a:t>
            </a:fld>
            <a:endParaRPr lang="en-US"/>
          </a:p>
        </p:txBody>
      </p:sp>
      <p:sp>
        <p:nvSpPr>
          <p:cNvPr id="3" name="Footer Placeholder 2">
            <a:extLst>
              <a:ext uri="{FF2B5EF4-FFF2-40B4-BE49-F238E27FC236}">
                <a16:creationId xmlns:a16="http://schemas.microsoft.com/office/drawing/2014/main" id="{3A366438-65CB-4231-9BC0-B41B6EBEA3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9D59D6-D01A-A9E6-B04F-795FDBD9BF8A}"/>
              </a:ext>
            </a:extLst>
          </p:cNvPr>
          <p:cNvSpPr>
            <a:spLocks noGrp="1"/>
          </p:cNvSpPr>
          <p:nvPr>
            <p:ph type="sldNum" sz="quarter" idx="12"/>
          </p:nvPr>
        </p:nvSpPr>
        <p:spPr/>
        <p:txBody>
          <a:bodyPr/>
          <a:lstStyle/>
          <a:p>
            <a:fld id="{3571B69D-4F29-4F75-A10B-8CE261D2978D}" type="slidenum">
              <a:rPr lang="en-US" smtClean="0"/>
              <a:t>‹#›</a:t>
            </a:fld>
            <a:endParaRPr lang="en-US"/>
          </a:p>
        </p:txBody>
      </p:sp>
    </p:spTree>
    <p:extLst>
      <p:ext uri="{BB962C8B-B14F-4D97-AF65-F5344CB8AC3E}">
        <p14:creationId xmlns:p14="http://schemas.microsoft.com/office/powerpoint/2010/main" val="3188476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4BBF-B7C0-2366-13AF-963ECED9CE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AEBE44-E070-A4AE-F1A5-2AF4119834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B9ACB1-250D-9FF1-B86B-56B38778C6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90F23C-0AAE-08C5-0CD5-CC067BA0F9E7}"/>
              </a:ext>
            </a:extLst>
          </p:cNvPr>
          <p:cNvSpPr>
            <a:spLocks noGrp="1"/>
          </p:cNvSpPr>
          <p:nvPr>
            <p:ph type="dt" sz="half" idx="10"/>
          </p:nvPr>
        </p:nvSpPr>
        <p:spPr/>
        <p:txBody>
          <a:bodyPr/>
          <a:lstStyle/>
          <a:p>
            <a:fld id="{57D0B835-627D-4140-99BB-28E834E7DD70}" type="datetimeFigureOut">
              <a:rPr lang="en-US" smtClean="0"/>
              <a:t>8/27/2026</a:t>
            </a:fld>
            <a:endParaRPr lang="en-US"/>
          </a:p>
        </p:txBody>
      </p:sp>
      <p:sp>
        <p:nvSpPr>
          <p:cNvPr id="6" name="Footer Placeholder 5">
            <a:extLst>
              <a:ext uri="{FF2B5EF4-FFF2-40B4-BE49-F238E27FC236}">
                <a16:creationId xmlns:a16="http://schemas.microsoft.com/office/drawing/2014/main" id="{98BC8FB7-9C52-68ED-5234-28C3E5A23F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2BAD9D-12A5-86E5-3BEA-F4C3697DFCC5}"/>
              </a:ext>
            </a:extLst>
          </p:cNvPr>
          <p:cNvSpPr>
            <a:spLocks noGrp="1"/>
          </p:cNvSpPr>
          <p:nvPr>
            <p:ph type="sldNum" sz="quarter" idx="12"/>
          </p:nvPr>
        </p:nvSpPr>
        <p:spPr/>
        <p:txBody>
          <a:bodyPr/>
          <a:lstStyle/>
          <a:p>
            <a:fld id="{3571B69D-4F29-4F75-A10B-8CE261D2978D}" type="slidenum">
              <a:rPr lang="en-US" smtClean="0"/>
              <a:t>‹#›</a:t>
            </a:fld>
            <a:endParaRPr lang="en-US"/>
          </a:p>
        </p:txBody>
      </p:sp>
    </p:spTree>
    <p:extLst>
      <p:ext uri="{BB962C8B-B14F-4D97-AF65-F5344CB8AC3E}">
        <p14:creationId xmlns:p14="http://schemas.microsoft.com/office/powerpoint/2010/main" val="3015071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963DF-AD9F-11C0-391F-9D752039BA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E7A79C-4214-E8DD-52E8-007FE8F159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8FD9C0-4130-79A0-5256-177383EDAF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896D2A-ECDF-AF7D-D420-665E55E4A13E}"/>
              </a:ext>
            </a:extLst>
          </p:cNvPr>
          <p:cNvSpPr>
            <a:spLocks noGrp="1"/>
          </p:cNvSpPr>
          <p:nvPr>
            <p:ph type="dt" sz="half" idx="10"/>
          </p:nvPr>
        </p:nvSpPr>
        <p:spPr/>
        <p:txBody>
          <a:bodyPr/>
          <a:lstStyle/>
          <a:p>
            <a:fld id="{57D0B835-627D-4140-99BB-28E834E7DD70}" type="datetimeFigureOut">
              <a:rPr lang="en-US" smtClean="0"/>
              <a:t>8/27/2026</a:t>
            </a:fld>
            <a:endParaRPr lang="en-US"/>
          </a:p>
        </p:txBody>
      </p:sp>
      <p:sp>
        <p:nvSpPr>
          <p:cNvPr id="6" name="Footer Placeholder 5">
            <a:extLst>
              <a:ext uri="{FF2B5EF4-FFF2-40B4-BE49-F238E27FC236}">
                <a16:creationId xmlns:a16="http://schemas.microsoft.com/office/drawing/2014/main" id="{40EE2B56-379B-B470-B1C7-9E0E59707B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E1EF79-C4A0-9DE4-01B7-211FF474DC1A}"/>
              </a:ext>
            </a:extLst>
          </p:cNvPr>
          <p:cNvSpPr>
            <a:spLocks noGrp="1"/>
          </p:cNvSpPr>
          <p:nvPr>
            <p:ph type="sldNum" sz="quarter" idx="12"/>
          </p:nvPr>
        </p:nvSpPr>
        <p:spPr/>
        <p:txBody>
          <a:bodyPr/>
          <a:lstStyle/>
          <a:p>
            <a:fld id="{3571B69D-4F29-4F75-A10B-8CE261D2978D}" type="slidenum">
              <a:rPr lang="en-US" smtClean="0"/>
              <a:t>‹#›</a:t>
            </a:fld>
            <a:endParaRPr lang="en-US"/>
          </a:p>
        </p:txBody>
      </p:sp>
    </p:spTree>
    <p:extLst>
      <p:ext uri="{BB962C8B-B14F-4D97-AF65-F5344CB8AC3E}">
        <p14:creationId xmlns:p14="http://schemas.microsoft.com/office/powerpoint/2010/main" val="1405795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E56BF-38BD-B036-57C9-87DCF493B9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AD01D6-ED5F-A064-F08F-5D3566C1B2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0455C2-B4F1-95FB-D02A-94F23C6A98DF}"/>
              </a:ext>
            </a:extLst>
          </p:cNvPr>
          <p:cNvSpPr>
            <a:spLocks noGrp="1"/>
          </p:cNvSpPr>
          <p:nvPr>
            <p:ph type="dt" sz="half" idx="10"/>
          </p:nvPr>
        </p:nvSpPr>
        <p:spPr/>
        <p:txBody>
          <a:bodyPr/>
          <a:lstStyle/>
          <a:p>
            <a:fld id="{57D0B835-627D-4140-99BB-28E834E7DD70}" type="datetimeFigureOut">
              <a:rPr lang="en-US" smtClean="0"/>
              <a:t>8/27/2026</a:t>
            </a:fld>
            <a:endParaRPr lang="en-US"/>
          </a:p>
        </p:txBody>
      </p:sp>
      <p:sp>
        <p:nvSpPr>
          <p:cNvPr id="5" name="Footer Placeholder 4">
            <a:extLst>
              <a:ext uri="{FF2B5EF4-FFF2-40B4-BE49-F238E27FC236}">
                <a16:creationId xmlns:a16="http://schemas.microsoft.com/office/drawing/2014/main" id="{19D1FB45-E9DD-C2C9-B6E1-769BCEF12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9F726-5759-E21B-CE27-0D028C149102}"/>
              </a:ext>
            </a:extLst>
          </p:cNvPr>
          <p:cNvSpPr>
            <a:spLocks noGrp="1"/>
          </p:cNvSpPr>
          <p:nvPr>
            <p:ph type="sldNum" sz="quarter" idx="12"/>
          </p:nvPr>
        </p:nvSpPr>
        <p:spPr/>
        <p:txBody>
          <a:bodyPr/>
          <a:lstStyle/>
          <a:p>
            <a:fld id="{3571B69D-4F29-4F75-A10B-8CE261D2978D}" type="slidenum">
              <a:rPr lang="en-US" smtClean="0"/>
              <a:t>‹#›</a:t>
            </a:fld>
            <a:endParaRPr lang="en-US"/>
          </a:p>
        </p:txBody>
      </p:sp>
    </p:spTree>
    <p:extLst>
      <p:ext uri="{BB962C8B-B14F-4D97-AF65-F5344CB8AC3E}">
        <p14:creationId xmlns:p14="http://schemas.microsoft.com/office/powerpoint/2010/main" val="2765726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527E68-C6C5-9B79-AFA2-69CC8B6064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B7CE45-4481-094E-1877-D2002EB711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4D7993-2A16-B8E0-C427-349D50EF28B0}"/>
              </a:ext>
            </a:extLst>
          </p:cNvPr>
          <p:cNvSpPr>
            <a:spLocks noGrp="1"/>
          </p:cNvSpPr>
          <p:nvPr>
            <p:ph type="dt" sz="half" idx="10"/>
          </p:nvPr>
        </p:nvSpPr>
        <p:spPr/>
        <p:txBody>
          <a:bodyPr/>
          <a:lstStyle/>
          <a:p>
            <a:fld id="{57D0B835-627D-4140-99BB-28E834E7DD70}" type="datetimeFigureOut">
              <a:rPr lang="en-US" smtClean="0"/>
              <a:t>8/27/2026</a:t>
            </a:fld>
            <a:endParaRPr lang="en-US"/>
          </a:p>
        </p:txBody>
      </p:sp>
      <p:sp>
        <p:nvSpPr>
          <p:cNvPr id="5" name="Footer Placeholder 4">
            <a:extLst>
              <a:ext uri="{FF2B5EF4-FFF2-40B4-BE49-F238E27FC236}">
                <a16:creationId xmlns:a16="http://schemas.microsoft.com/office/drawing/2014/main" id="{85545EB4-8E4D-80ED-F257-86BF7316B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7FDA7D-1B70-2588-CFEC-62CF88CA0946}"/>
              </a:ext>
            </a:extLst>
          </p:cNvPr>
          <p:cNvSpPr>
            <a:spLocks noGrp="1"/>
          </p:cNvSpPr>
          <p:nvPr>
            <p:ph type="sldNum" sz="quarter" idx="12"/>
          </p:nvPr>
        </p:nvSpPr>
        <p:spPr/>
        <p:txBody>
          <a:bodyPr/>
          <a:lstStyle/>
          <a:p>
            <a:fld id="{3571B69D-4F29-4F75-A10B-8CE261D2978D}" type="slidenum">
              <a:rPr lang="en-US" smtClean="0"/>
              <a:t>‹#›</a:t>
            </a:fld>
            <a:endParaRPr lang="en-US"/>
          </a:p>
        </p:txBody>
      </p:sp>
    </p:spTree>
    <p:extLst>
      <p:ext uri="{BB962C8B-B14F-4D97-AF65-F5344CB8AC3E}">
        <p14:creationId xmlns:p14="http://schemas.microsoft.com/office/powerpoint/2010/main" val="2027935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CC9A0C-17B5-F22B-E06D-B1A46334C6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216F90-2697-7B86-3AC7-4635B4A50F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FDBDB6-CE10-73AE-ABDE-BB163C8087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D0B835-627D-4140-99BB-28E834E7DD70}" type="datetimeFigureOut">
              <a:rPr lang="en-US" smtClean="0"/>
              <a:t>8/27/2026</a:t>
            </a:fld>
            <a:endParaRPr lang="en-US"/>
          </a:p>
        </p:txBody>
      </p:sp>
      <p:sp>
        <p:nvSpPr>
          <p:cNvPr id="5" name="Footer Placeholder 4">
            <a:extLst>
              <a:ext uri="{FF2B5EF4-FFF2-40B4-BE49-F238E27FC236}">
                <a16:creationId xmlns:a16="http://schemas.microsoft.com/office/drawing/2014/main" id="{096EF258-00A3-B2BD-D31F-BAB9372F45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FBBA76A-6856-7EFB-6768-E64FA3B746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71B69D-4F29-4F75-A10B-8CE261D2978D}" type="slidenum">
              <a:rPr lang="en-US" smtClean="0"/>
              <a:t>‹#›</a:t>
            </a:fld>
            <a:endParaRPr lang="en-US"/>
          </a:p>
        </p:txBody>
      </p:sp>
    </p:spTree>
    <p:extLst>
      <p:ext uri="{BB962C8B-B14F-4D97-AF65-F5344CB8AC3E}">
        <p14:creationId xmlns:p14="http://schemas.microsoft.com/office/powerpoint/2010/main" val="3646937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storymaps.arcgis.com/stories/629c46b2651f4ceab0f4678250dfbbc2" TargetMode="External"/><Relationship Id="rId5" Type="http://schemas.openxmlformats.org/officeDocument/2006/relationships/image" Target="../media/image10.png"/><Relationship Id="rId4" Type="http://schemas.openxmlformats.org/officeDocument/2006/relationships/hyperlink" Target="https://gowanuscanalconservancy.org/histor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hyperlink" Target="https://storymaps.arcgis.com/stories/629c46b2651f4ceab0f4678250dfbbc2"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5.png"/><Relationship Id="rId7" Type="http://schemas.openxmlformats.org/officeDocument/2006/relationships/image" Target="../media/image29.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B8C815-2D7D-1F6C-8808-F09F087C18A8}"/>
              </a:ext>
            </a:extLst>
          </p:cNvPr>
          <p:cNvSpPr/>
          <p:nvPr/>
        </p:nvSpPr>
        <p:spPr>
          <a:xfrm>
            <a:off x="0" y="0"/>
            <a:ext cx="12192000" cy="6858000"/>
          </a:xfrm>
          <a:prstGeom prst="rect">
            <a:avLst/>
          </a:prstGeom>
          <a:solidFill>
            <a:srgbClr val="0192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61929DF-2BD2-DBCF-7A4E-7F30BDA36C7E}"/>
              </a:ext>
            </a:extLst>
          </p:cNvPr>
          <p:cNvSpPr txBox="1"/>
          <p:nvPr/>
        </p:nvSpPr>
        <p:spPr>
          <a:xfrm>
            <a:off x="2084325" y="2321004"/>
            <a:ext cx="8023350" cy="1107996"/>
          </a:xfrm>
          <a:prstGeom prst="rect">
            <a:avLst/>
          </a:prstGeom>
          <a:noFill/>
        </p:spPr>
        <p:txBody>
          <a:bodyPr wrap="none" rtlCol="0" anchor="ctr">
            <a:spAutoFit/>
          </a:bodyPr>
          <a:lstStyle/>
          <a:p>
            <a:pPr algn="ctr"/>
            <a:r>
              <a:rPr lang="en-US" sz="6600">
                <a:solidFill>
                  <a:schemeClr val="bg1"/>
                </a:solidFill>
                <a:latin typeface="Aptos Slab ExtraBold" panose="020F0502020204030204" pitchFamily="34" charset="0"/>
              </a:rPr>
              <a:t>The Gowanus Canal</a:t>
            </a:r>
          </a:p>
        </p:txBody>
      </p:sp>
      <p:sp>
        <p:nvSpPr>
          <p:cNvPr id="7" name="TextBox 6">
            <a:extLst>
              <a:ext uri="{FF2B5EF4-FFF2-40B4-BE49-F238E27FC236}">
                <a16:creationId xmlns:a16="http://schemas.microsoft.com/office/drawing/2014/main" id="{8CB9B6AC-7E20-D6E4-C0FB-CC5E2322757C}"/>
              </a:ext>
            </a:extLst>
          </p:cNvPr>
          <p:cNvSpPr txBox="1"/>
          <p:nvPr/>
        </p:nvSpPr>
        <p:spPr>
          <a:xfrm>
            <a:off x="3818021" y="3429000"/>
            <a:ext cx="4555958" cy="707886"/>
          </a:xfrm>
          <a:prstGeom prst="rect">
            <a:avLst/>
          </a:prstGeom>
          <a:noFill/>
        </p:spPr>
        <p:txBody>
          <a:bodyPr wrap="square" anchor="ctr">
            <a:spAutoFit/>
          </a:bodyPr>
          <a:lstStyle/>
          <a:p>
            <a:pPr algn="ctr"/>
            <a:r>
              <a:rPr lang="en-US" sz="4000">
                <a:solidFill>
                  <a:schemeClr val="bg1"/>
                </a:solidFill>
                <a:latin typeface="Aptos Slab ExtraBold" panose="020F0502020204030204" pitchFamily="34" charset="0"/>
              </a:rPr>
              <a:t>Superfund Site</a:t>
            </a:r>
            <a:endParaRPr lang="en-US" sz="4000"/>
          </a:p>
        </p:txBody>
      </p:sp>
      <p:sp>
        <p:nvSpPr>
          <p:cNvPr id="10" name="TextBox 9">
            <a:extLst>
              <a:ext uri="{FF2B5EF4-FFF2-40B4-BE49-F238E27FC236}">
                <a16:creationId xmlns:a16="http://schemas.microsoft.com/office/drawing/2014/main" id="{94634F5F-C722-D431-DF1D-4175B75030B8}"/>
              </a:ext>
            </a:extLst>
          </p:cNvPr>
          <p:cNvSpPr txBox="1"/>
          <p:nvPr/>
        </p:nvSpPr>
        <p:spPr>
          <a:xfrm>
            <a:off x="1820779" y="4198440"/>
            <a:ext cx="8550442" cy="400110"/>
          </a:xfrm>
          <a:prstGeom prst="rect">
            <a:avLst/>
          </a:prstGeom>
          <a:noFill/>
        </p:spPr>
        <p:txBody>
          <a:bodyPr wrap="square" anchor="ctr">
            <a:spAutoFit/>
          </a:bodyPr>
          <a:lstStyle/>
          <a:p>
            <a:pPr algn="ctr"/>
            <a:r>
              <a:rPr lang="en-US" sz="2000">
                <a:solidFill>
                  <a:schemeClr val="bg1"/>
                </a:solidFill>
                <a:latin typeface="Aptos Slab ExtraBold" panose="020B0004020202020204" pitchFamily="34" charset="0"/>
              </a:rPr>
              <a:t>Sivan Spiel, Rachel Lee, Ruslana </a:t>
            </a:r>
            <a:r>
              <a:rPr lang="en-US" sz="2000" err="1">
                <a:solidFill>
                  <a:schemeClr val="bg1"/>
                </a:solidFill>
                <a:latin typeface="Aptos Slab ExtraBold" panose="020B0004020202020204" pitchFamily="34" charset="0"/>
              </a:rPr>
              <a:t>Bukalo</a:t>
            </a:r>
            <a:endParaRPr lang="en-US" sz="2000">
              <a:solidFill>
                <a:schemeClr val="bg1"/>
              </a:solidFill>
              <a:latin typeface="Aptos Slab ExtraBold" panose="020B0004020202020204" pitchFamily="34" charset="0"/>
            </a:endParaRPr>
          </a:p>
        </p:txBody>
      </p:sp>
    </p:spTree>
    <p:extLst>
      <p:ext uri="{BB962C8B-B14F-4D97-AF65-F5344CB8AC3E}">
        <p14:creationId xmlns:p14="http://schemas.microsoft.com/office/powerpoint/2010/main" val="1449212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D7106-19A2-D84B-523E-B60CA04BDBA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DA5265-9629-DC44-CEFF-CA60213B24B1}"/>
              </a:ext>
            </a:extLst>
          </p:cNvPr>
          <p:cNvSpPr/>
          <p:nvPr/>
        </p:nvSpPr>
        <p:spPr>
          <a:xfrm>
            <a:off x="0" y="0"/>
            <a:ext cx="12192000" cy="6858000"/>
          </a:xfrm>
          <a:prstGeom prst="rect">
            <a:avLst/>
          </a:prstGeom>
          <a:solidFill>
            <a:srgbClr val="1C82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31C8F89-7E73-0367-EEA4-68F638DEAF34}"/>
              </a:ext>
            </a:extLst>
          </p:cNvPr>
          <p:cNvSpPr txBox="1"/>
          <p:nvPr/>
        </p:nvSpPr>
        <p:spPr>
          <a:xfrm>
            <a:off x="248463" y="351118"/>
            <a:ext cx="11681403" cy="830997"/>
          </a:xfrm>
          <a:prstGeom prst="rect">
            <a:avLst/>
          </a:prstGeom>
          <a:noFill/>
        </p:spPr>
        <p:txBody>
          <a:bodyPr wrap="none" rtlCol="0">
            <a:spAutoFit/>
          </a:bodyPr>
          <a:lstStyle/>
          <a:p>
            <a:r>
              <a:rPr lang="en-US" sz="4800">
                <a:solidFill>
                  <a:schemeClr val="bg1"/>
                </a:solidFill>
                <a:latin typeface="Aptos Slab ExtraBold" panose="020F0502020204030204" pitchFamily="34" charset="0"/>
              </a:rPr>
              <a:t>Gowanus Canal Superfund Site - History</a:t>
            </a:r>
          </a:p>
        </p:txBody>
      </p:sp>
      <p:sp>
        <p:nvSpPr>
          <p:cNvPr id="5" name="TextBox 4">
            <a:extLst>
              <a:ext uri="{FF2B5EF4-FFF2-40B4-BE49-F238E27FC236}">
                <a16:creationId xmlns:a16="http://schemas.microsoft.com/office/drawing/2014/main" id="{7F2E68E3-C40A-56A0-FF9D-B8449CC9C6DD}"/>
              </a:ext>
            </a:extLst>
          </p:cNvPr>
          <p:cNvSpPr txBox="1"/>
          <p:nvPr/>
        </p:nvSpPr>
        <p:spPr>
          <a:xfrm>
            <a:off x="8167458" y="1533233"/>
            <a:ext cx="3832218" cy="3785652"/>
          </a:xfrm>
          <a:prstGeom prst="rect">
            <a:avLst/>
          </a:prstGeom>
          <a:noFill/>
        </p:spPr>
        <p:txBody>
          <a:bodyPr wrap="square" rtlCol="0">
            <a:spAutoFit/>
          </a:bodyPr>
          <a:lstStyle/>
          <a:p>
            <a:r>
              <a:rPr lang="en-US" sz="1600">
                <a:solidFill>
                  <a:schemeClr val="bg1"/>
                </a:solidFill>
                <a:latin typeface="Aptos Slab ExtraBold" panose="020F0502020204030204" pitchFamily="34" charset="0"/>
              </a:rPr>
              <a:t>The Gowanus canal and surrounding area was developed in the 19</a:t>
            </a:r>
            <a:r>
              <a:rPr lang="en-US" sz="1600" baseline="30000">
                <a:solidFill>
                  <a:schemeClr val="bg1"/>
                </a:solidFill>
                <a:latin typeface="Aptos Slab ExtraBold" panose="020F0502020204030204" pitchFamily="34" charset="0"/>
              </a:rPr>
              <a:t>th</a:t>
            </a:r>
            <a:r>
              <a:rPr lang="en-US" sz="1600">
                <a:solidFill>
                  <a:schemeClr val="bg1"/>
                </a:solidFill>
                <a:latin typeface="Aptos Slab ExtraBold" panose="020F0502020204030204" pitchFamily="34" charset="0"/>
              </a:rPr>
              <a:t> century and was home to chemical plants, coal yards, paint factories, and several other industrial sites.  </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The canal was used as a waste disposal for these factories, and over the next 150 years, the canal became one of the most polluted bodies of water in America. </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The different areas are ordered by cleanup priority, with area 1 being the first zone treated for contaminants.</a:t>
            </a:r>
          </a:p>
        </p:txBody>
      </p:sp>
      <p:pic>
        <p:nvPicPr>
          <p:cNvPr id="13" name="Picture 12">
            <a:extLst>
              <a:ext uri="{FF2B5EF4-FFF2-40B4-BE49-F238E27FC236}">
                <a16:creationId xmlns:a16="http://schemas.microsoft.com/office/drawing/2014/main" id="{6BBAA891-4495-EEDE-4F34-B17E53F29E1D}"/>
              </a:ext>
            </a:extLst>
          </p:cNvPr>
          <p:cNvPicPr>
            <a:picLocks noChangeAspect="1"/>
          </p:cNvPicPr>
          <p:nvPr/>
        </p:nvPicPr>
        <p:blipFill>
          <a:blip r:embed="rId3"/>
          <a:stretch>
            <a:fillRect/>
          </a:stretch>
        </p:blipFill>
        <p:spPr>
          <a:xfrm>
            <a:off x="418223" y="1376218"/>
            <a:ext cx="7650211" cy="4710546"/>
          </a:xfrm>
          <a:prstGeom prst="rect">
            <a:avLst/>
          </a:prstGeom>
        </p:spPr>
      </p:pic>
      <p:pic>
        <p:nvPicPr>
          <p:cNvPr id="4" name="Picture 3">
            <a:extLst>
              <a:ext uri="{FF2B5EF4-FFF2-40B4-BE49-F238E27FC236}">
                <a16:creationId xmlns:a16="http://schemas.microsoft.com/office/drawing/2014/main" id="{730BB394-2D7D-A33C-C375-1AF053570272}"/>
              </a:ext>
            </a:extLst>
          </p:cNvPr>
          <p:cNvPicPr>
            <a:picLocks noChangeAspect="1"/>
          </p:cNvPicPr>
          <p:nvPr/>
        </p:nvPicPr>
        <p:blipFill>
          <a:blip r:embed="rId4"/>
          <a:srcRect l="1509" t="2237" r="2572" b="1788"/>
          <a:stretch>
            <a:fillRect/>
          </a:stretch>
        </p:blipFill>
        <p:spPr>
          <a:xfrm>
            <a:off x="627293" y="1376218"/>
            <a:ext cx="7232073" cy="4710546"/>
          </a:xfrm>
          <a:prstGeom prst="rect">
            <a:avLst/>
          </a:prstGeom>
        </p:spPr>
      </p:pic>
      <p:sp>
        <p:nvSpPr>
          <p:cNvPr id="6" name="TextBox 5">
            <a:extLst>
              <a:ext uri="{FF2B5EF4-FFF2-40B4-BE49-F238E27FC236}">
                <a16:creationId xmlns:a16="http://schemas.microsoft.com/office/drawing/2014/main" id="{51D6FF9A-0D0C-3513-EEDD-8D97343293B1}"/>
              </a:ext>
            </a:extLst>
          </p:cNvPr>
          <p:cNvSpPr txBox="1"/>
          <p:nvPr/>
        </p:nvSpPr>
        <p:spPr>
          <a:xfrm>
            <a:off x="426691" y="5905409"/>
            <a:ext cx="771458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p>
        </p:txBody>
      </p:sp>
    </p:spTree>
    <p:extLst>
      <p:ext uri="{BB962C8B-B14F-4D97-AF65-F5344CB8AC3E}">
        <p14:creationId xmlns:p14="http://schemas.microsoft.com/office/powerpoint/2010/main" val="461422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xit" presetSubtype="0" fill="hold" nodeType="withEffect">
                                  <p:stCondLst>
                                    <p:cond delay="0"/>
                                  </p:stCondLst>
                                  <p:childTnLst>
                                    <p:animEffect transition="out" filter="fade">
                                      <p:cBhvr>
                                        <p:cTn id="9" dur="500"/>
                                        <p:tgtEl>
                                          <p:spTgt spid="4"/>
                                        </p:tgtEl>
                                      </p:cBhvr>
                                    </p:animEffect>
                                    <p:set>
                                      <p:cBhvr>
                                        <p:cTn id="10"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95D68F-77AE-48F0-D7F7-07F3657529C4}"/>
              </a:ext>
            </a:extLst>
          </p:cNvPr>
          <p:cNvSpPr/>
          <p:nvPr/>
        </p:nvSpPr>
        <p:spPr>
          <a:xfrm>
            <a:off x="0" y="0"/>
            <a:ext cx="12192000" cy="6858000"/>
          </a:xfrm>
          <a:prstGeom prst="rect">
            <a:avLst/>
          </a:prstGeom>
          <a:solidFill>
            <a:srgbClr val="EDA1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C5AFC24-D3F4-E5FA-23AC-403C80F6EA00}"/>
              </a:ext>
            </a:extLst>
          </p:cNvPr>
          <p:cNvPicPr>
            <a:picLocks noChangeAspect="1"/>
          </p:cNvPicPr>
          <p:nvPr/>
        </p:nvPicPr>
        <p:blipFill>
          <a:blip r:embed="rId2"/>
          <a:stretch>
            <a:fillRect/>
          </a:stretch>
        </p:blipFill>
        <p:spPr>
          <a:xfrm>
            <a:off x="569628" y="963222"/>
            <a:ext cx="4067743" cy="5591955"/>
          </a:xfrm>
          <a:prstGeom prst="rect">
            <a:avLst/>
          </a:prstGeom>
        </p:spPr>
      </p:pic>
      <p:sp>
        <p:nvSpPr>
          <p:cNvPr id="5" name="TextBox 4">
            <a:extLst>
              <a:ext uri="{FF2B5EF4-FFF2-40B4-BE49-F238E27FC236}">
                <a16:creationId xmlns:a16="http://schemas.microsoft.com/office/drawing/2014/main" id="{CF03BF70-CF9F-0316-EECE-FEFCFFCFAD8C}"/>
              </a:ext>
            </a:extLst>
          </p:cNvPr>
          <p:cNvSpPr txBox="1"/>
          <p:nvPr/>
        </p:nvSpPr>
        <p:spPr>
          <a:xfrm>
            <a:off x="235876" y="164527"/>
            <a:ext cx="7585731" cy="830997"/>
          </a:xfrm>
          <a:prstGeom prst="rect">
            <a:avLst/>
          </a:prstGeom>
          <a:noFill/>
        </p:spPr>
        <p:txBody>
          <a:bodyPr wrap="none" rtlCol="0">
            <a:spAutoFit/>
          </a:bodyPr>
          <a:lstStyle/>
          <a:p>
            <a:r>
              <a:rPr lang="en-US" sz="4800">
                <a:solidFill>
                  <a:schemeClr val="bg1"/>
                </a:solidFill>
                <a:latin typeface="Aptos Slab ExtraBold" panose="020F0502020204030204" pitchFamily="34" charset="0"/>
              </a:rPr>
              <a:t>History of Chemical Spills</a:t>
            </a:r>
          </a:p>
        </p:txBody>
      </p:sp>
      <p:pic>
        <p:nvPicPr>
          <p:cNvPr id="7" name="Picture 6">
            <a:extLst>
              <a:ext uri="{FF2B5EF4-FFF2-40B4-BE49-F238E27FC236}">
                <a16:creationId xmlns:a16="http://schemas.microsoft.com/office/drawing/2014/main" id="{2745CBC9-ADC0-C0E6-71CA-B1C4F2DC8C50}"/>
              </a:ext>
            </a:extLst>
          </p:cNvPr>
          <p:cNvPicPr>
            <a:picLocks noChangeAspect="1"/>
          </p:cNvPicPr>
          <p:nvPr/>
        </p:nvPicPr>
        <p:blipFill>
          <a:blip r:embed="rId3"/>
          <a:srcRect l="9576" t="10077" r="4024" b="4214"/>
          <a:stretch>
            <a:fillRect/>
          </a:stretch>
        </p:blipFill>
        <p:spPr>
          <a:xfrm>
            <a:off x="4816666" y="3951369"/>
            <a:ext cx="1275774" cy="2106531"/>
          </a:xfrm>
          <a:prstGeom prst="rect">
            <a:avLst/>
          </a:prstGeom>
        </p:spPr>
      </p:pic>
      <p:pic>
        <p:nvPicPr>
          <p:cNvPr id="9" name="Picture 8">
            <a:extLst>
              <a:ext uri="{FF2B5EF4-FFF2-40B4-BE49-F238E27FC236}">
                <a16:creationId xmlns:a16="http://schemas.microsoft.com/office/drawing/2014/main" id="{E6F3BE91-DACC-B8E9-CF2E-8F938F065FD7}"/>
              </a:ext>
            </a:extLst>
          </p:cNvPr>
          <p:cNvPicPr>
            <a:picLocks noChangeAspect="1"/>
          </p:cNvPicPr>
          <p:nvPr/>
        </p:nvPicPr>
        <p:blipFill>
          <a:blip r:embed="rId4"/>
          <a:stretch>
            <a:fillRect/>
          </a:stretch>
        </p:blipFill>
        <p:spPr>
          <a:xfrm>
            <a:off x="6323268" y="4345069"/>
            <a:ext cx="1571844" cy="2210108"/>
          </a:xfrm>
          <a:prstGeom prst="rect">
            <a:avLst/>
          </a:prstGeom>
        </p:spPr>
      </p:pic>
      <p:pic>
        <p:nvPicPr>
          <p:cNvPr id="11" name="Picture 10">
            <a:extLst>
              <a:ext uri="{FF2B5EF4-FFF2-40B4-BE49-F238E27FC236}">
                <a16:creationId xmlns:a16="http://schemas.microsoft.com/office/drawing/2014/main" id="{E5B2BC12-CDBF-A53D-8EFA-46D9B80B0BAF}"/>
              </a:ext>
            </a:extLst>
          </p:cNvPr>
          <p:cNvPicPr>
            <a:picLocks noChangeAspect="1"/>
          </p:cNvPicPr>
          <p:nvPr/>
        </p:nvPicPr>
        <p:blipFill>
          <a:blip r:embed="rId5"/>
          <a:stretch>
            <a:fillRect/>
          </a:stretch>
        </p:blipFill>
        <p:spPr>
          <a:xfrm>
            <a:off x="8143053" y="4097384"/>
            <a:ext cx="1267002" cy="2172003"/>
          </a:xfrm>
          <a:prstGeom prst="rect">
            <a:avLst/>
          </a:prstGeom>
        </p:spPr>
      </p:pic>
      <p:pic>
        <p:nvPicPr>
          <p:cNvPr id="13" name="Picture 12">
            <a:extLst>
              <a:ext uri="{FF2B5EF4-FFF2-40B4-BE49-F238E27FC236}">
                <a16:creationId xmlns:a16="http://schemas.microsoft.com/office/drawing/2014/main" id="{E27F0C77-4E89-C92D-F01D-3EDBCB0966B8}"/>
              </a:ext>
            </a:extLst>
          </p:cNvPr>
          <p:cNvPicPr>
            <a:picLocks noChangeAspect="1"/>
          </p:cNvPicPr>
          <p:nvPr/>
        </p:nvPicPr>
        <p:blipFill>
          <a:blip r:embed="rId6"/>
          <a:stretch>
            <a:fillRect/>
          </a:stretch>
        </p:blipFill>
        <p:spPr>
          <a:xfrm>
            <a:off x="9812085" y="4387937"/>
            <a:ext cx="1162212" cy="2124371"/>
          </a:xfrm>
          <a:prstGeom prst="rect">
            <a:avLst/>
          </a:prstGeom>
        </p:spPr>
      </p:pic>
      <p:sp>
        <p:nvSpPr>
          <p:cNvPr id="14" name="TextBox 13">
            <a:extLst>
              <a:ext uri="{FF2B5EF4-FFF2-40B4-BE49-F238E27FC236}">
                <a16:creationId xmlns:a16="http://schemas.microsoft.com/office/drawing/2014/main" id="{4AD0CC29-16F0-0BA7-CCD0-A69487CAAD51}"/>
              </a:ext>
            </a:extLst>
          </p:cNvPr>
          <p:cNvSpPr txBox="1"/>
          <p:nvPr/>
        </p:nvSpPr>
        <p:spPr>
          <a:xfrm>
            <a:off x="4755423" y="1263862"/>
            <a:ext cx="5518877" cy="2062103"/>
          </a:xfrm>
          <a:prstGeom prst="rect">
            <a:avLst/>
          </a:prstGeom>
          <a:noFill/>
        </p:spPr>
        <p:txBody>
          <a:bodyPr wrap="square" lIns="91440" tIns="45720" rIns="91440" bIns="45720" rtlCol="0" anchor="t">
            <a:spAutoFit/>
          </a:bodyPr>
          <a:lstStyle/>
          <a:p>
            <a:r>
              <a:rPr lang="en-US" sz="1600">
                <a:solidFill>
                  <a:schemeClr val="bg1"/>
                </a:solidFill>
                <a:latin typeface="Aptos Slab ExtraBold"/>
              </a:rPr>
              <a:t>This map of the Gowanus Canal shows the history of chemical spills  occurring from 1978 – 2025. This leaves out around 100 years of poor waste disposal practices.  </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The green droplets represent the sites that were cleaned up, and the red droplets represent areas that are still contaminated. Some of the active sites have been opened for more than a decade.</a:t>
            </a:r>
          </a:p>
        </p:txBody>
      </p:sp>
      <p:pic>
        <p:nvPicPr>
          <p:cNvPr id="16" name="Picture 15">
            <a:extLst>
              <a:ext uri="{FF2B5EF4-FFF2-40B4-BE49-F238E27FC236}">
                <a16:creationId xmlns:a16="http://schemas.microsoft.com/office/drawing/2014/main" id="{F3C2E5A5-6495-424B-2663-A49F04F86F78}"/>
              </a:ext>
            </a:extLst>
          </p:cNvPr>
          <p:cNvPicPr>
            <a:picLocks noChangeAspect="1"/>
          </p:cNvPicPr>
          <p:nvPr/>
        </p:nvPicPr>
        <p:blipFill>
          <a:blip r:embed="rId7"/>
          <a:stretch>
            <a:fillRect/>
          </a:stretch>
        </p:blipFill>
        <p:spPr>
          <a:xfrm>
            <a:off x="10392352" y="995524"/>
            <a:ext cx="1563772" cy="2536512"/>
          </a:xfrm>
          <a:prstGeom prst="rect">
            <a:avLst/>
          </a:prstGeom>
        </p:spPr>
      </p:pic>
    </p:spTree>
    <p:extLst>
      <p:ext uri="{BB962C8B-B14F-4D97-AF65-F5344CB8AC3E}">
        <p14:creationId xmlns:p14="http://schemas.microsoft.com/office/powerpoint/2010/main" val="3061742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childTnLst>
                                </p:cTn>
                              </p:par>
                            </p:childTnLst>
                          </p:cTn>
                        </p:par>
                        <p:par>
                          <p:cTn id="8" fill="hold">
                            <p:stCondLst>
                              <p:cond delay="25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50"/>
                                        <p:tgtEl>
                                          <p:spTgt spid="9"/>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par>
                          <p:cTn id="16" fill="hold">
                            <p:stCondLst>
                              <p:cond delay="750"/>
                            </p:stCondLst>
                            <p:childTnLst>
                              <p:par>
                                <p:cTn id="17" presetID="10"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25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E9689-B545-265E-5B29-FD86D140687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1A57FCC-8D0D-A9A7-35AD-C32BF7D9FD5D}"/>
              </a:ext>
            </a:extLst>
          </p:cNvPr>
          <p:cNvSpPr/>
          <p:nvPr/>
        </p:nvSpPr>
        <p:spPr>
          <a:xfrm>
            <a:off x="0" y="0"/>
            <a:ext cx="12192000" cy="6858000"/>
          </a:xfrm>
          <a:prstGeom prst="rect">
            <a:avLst/>
          </a:prstGeom>
          <a:solidFill>
            <a:srgbClr val="39AC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2F400AD-1F5C-1176-B08E-E7F098C83060}"/>
              </a:ext>
            </a:extLst>
          </p:cNvPr>
          <p:cNvSpPr txBox="1"/>
          <p:nvPr/>
        </p:nvSpPr>
        <p:spPr>
          <a:xfrm>
            <a:off x="409147" y="960497"/>
            <a:ext cx="5257995" cy="5755422"/>
          </a:xfrm>
          <a:prstGeom prst="rect">
            <a:avLst/>
          </a:prstGeom>
          <a:noFill/>
        </p:spPr>
        <p:txBody>
          <a:bodyPr wrap="square" lIns="91440" tIns="45720" rIns="91440" bIns="45720" rtlCol="0" anchor="t">
            <a:spAutoFit/>
          </a:bodyPr>
          <a:lstStyle/>
          <a:p>
            <a:r>
              <a:rPr lang="en-US" sz="1600">
                <a:solidFill>
                  <a:schemeClr val="bg1"/>
                </a:solidFill>
                <a:latin typeface="Aptos Slab ExtraBold"/>
              </a:rPr>
              <a:t>By 1869 (when the Gowanus Canal was completed), many industries were already present at its banks, including:</a:t>
            </a:r>
          </a:p>
          <a:p>
            <a:pPr marL="285750" indent="-285750">
              <a:buFont typeface="Arial" panose="020B0604020202020204" pitchFamily="34" charset="0"/>
              <a:buChar char="•"/>
            </a:pPr>
            <a:r>
              <a:rPr lang="en-US" sz="1600">
                <a:solidFill>
                  <a:schemeClr val="bg1"/>
                </a:solidFill>
                <a:latin typeface="Aptos Slab ExtraBold"/>
              </a:rPr>
              <a:t>Manufactured gas plants (like Metropolitan Gas Works)</a:t>
            </a:r>
          </a:p>
          <a:p>
            <a:pPr marL="285750" indent="-285750">
              <a:buFont typeface="Arial" panose="020B0604020202020204" pitchFamily="34" charset="0"/>
              <a:buChar char="•"/>
            </a:pPr>
            <a:r>
              <a:rPr lang="en-US" sz="1600">
                <a:solidFill>
                  <a:schemeClr val="bg1"/>
                </a:solidFill>
                <a:latin typeface="Aptos Slab ExtraBold"/>
              </a:rPr>
              <a:t>Foundries</a:t>
            </a:r>
          </a:p>
          <a:p>
            <a:pPr marL="285750" indent="-285750">
              <a:buFont typeface="Arial" panose="020B0604020202020204" pitchFamily="34" charset="0"/>
              <a:buChar char="•"/>
            </a:pPr>
            <a:r>
              <a:rPr lang="en-US" sz="1600">
                <a:solidFill>
                  <a:schemeClr val="bg1"/>
                </a:solidFill>
                <a:latin typeface="Aptos Slab ExtraBold"/>
              </a:rPr>
              <a:t>Machine shops</a:t>
            </a:r>
          </a:p>
          <a:p>
            <a:pPr marL="285750" indent="-285750">
              <a:buFont typeface="Arial" panose="020B0604020202020204" pitchFamily="34" charset="0"/>
              <a:buChar char="•"/>
            </a:pPr>
            <a:r>
              <a:rPr lang="en-US" sz="1600">
                <a:solidFill>
                  <a:schemeClr val="bg1"/>
                </a:solidFill>
                <a:latin typeface="Aptos Slab ExtraBold"/>
              </a:rPr>
              <a:t>Coal yards</a:t>
            </a:r>
          </a:p>
          <a:p>
            <a:pPr marL="285750" indent="-285750">
              <a:buFont typeface="Arial" panose="020B0604020202020204" pitchFamily="34" charset="0"/>
              <a:buChar char="•"/>
            </a:pPr>
            <a:r>
              <a:rPr lang="en-US" sz="1600">
                <a:solidFill>
                  <a:schemeClr val="bg1"/>
                </a:solidFill>
                <a:latin typeface="Aptos Slab ExtraBold"/>
              </a:rPr>
              <a:t>Ship yards</a:t>
            </a:r>
          </a:p>
          <a:p>
            <a:pPr marL="285750" indent="-285750">
              <a:buFont typeface="Arial" panose="020B0604020202020204" pitchFamily="34" charset="0"/>
              <a:buChar char="•"/>
            </a:pPr>
            <a:r>
              <a:rPr lang="en-US" sz="1600">
                <a:solidFill>
                  <a:schemeClr val="bg1"/>
                </a:solidFill>
                <a:latin typeface="Aptos Slab ExtraBold"/>
              </a:rPr>
              <a:t>Chemical plants</a:t>
            </a:r>
          </a:p>
          <a:p>
            <a:pPr marL="285750" indent="-285750">
              <a:buFont typeface="Arial" panose="020B0604020202020204" pitchFamily="34" charset="0"/>
              <a:buChar char="•"/>
            </a:pPr>
            <a:endParaRPr lang="en-US" sz="1600">
              <a:solidFill>
                <a:schemeClr val="bg1"/>
              </a:solidFill>
              <a:latin typeface="Aptos Slab ExtraBold"/>
            </a:endParaRPr>
          </a:p>
          <a:p>
            <a:r>
              <a:rPr lang="en-US" sz="1600">
                <a:solidFill>
                  <a:schemeClr val="bg1"/>
                </a:solidFill>
                <a:latin typeface="Aptos Slab ExtraBold"/>
              </a:rPr>
              <a:t>These industries, along with persistent sewage overflow, contaminated the Gowanus Canal with toxic chemicals. The toxic sludge at the bottom of the Gowanus Canal is nicknamed “Black Mayonnaise” (mixture of pollutants and decomposing organic matter). Due to the lack of environmental protection laws at the time, byproducts were released and/or incorrectly stored:</a:t>
            </a:r>
          </a:p>
          <a:p>
            <a:pPr marL="285750" indent="-285750">
              <a:buFont typeface="Arial" panose="020B0604020202020204" pitchFamily="34" charset="0"/>
              <a:buChar char="•"/>
            </a:pPr>
            <a:r>
              <a:rPr lang="en-US" sz="1600">
                <a:solidFill>
                  <a:schemeClr val="bg1"/>
                </a:solidFill>
                <a:latin typeface="Aptos Slab ExtraBold"/>
              </a:rPr>
              <a:t>Polychlorinated biphenyls (PCBs) (for pigment production, plasticizers)</a:t>
            </a:r>
          </a:p>
          <a:p>
            <a:pPr marL="285750" indent="-285750">
              <a:buFont typeface="Arial" panose="020B0604020202020204" pitchFamily="34" charset="0"/>
              <a:buChar char="•"/>
            </a:pPr>
            <a:r>
              <a:rPr lang="en-US" sz="1600">
                <a:solidFill>
                  <a:schemeClr val="bg1"/>
                </a:solidFill>
                <a:latin typeface="Aptos Slab ExtraBold"/>
              </a:rPr>
              <a:t>Coal combustion products (heavy metals like mercury, lead)</a:t>
            </a:r>
          </a:p>
        </p:txBody>
      </p:sp>
      <p:sp>
        <p:nvSpPr>
          <p:cNvPr id="4" name="TextBox 3">
            <a:extLst>
              <a:ext uri="{FF2B5EF4-FFF2-40B4-BE49-F238E27FC236}">
                <a16:creationId xmlns:a16="http://schemas.microsoft.com/office/drawing/2014/main" id="{E7BB6D87-9B45-6908-DC80-D4B0E0263FDB}"/>
              </a:ext>
            </a:extLst>
          </p:cNvPr>
          <p:cNvSpPr txBox="1"/>
          <p:nvPr/>
        </p:nvSpPr>
        <p:spPr>
          <a:xfrm>
            <a:off x="235876" y="164527"/>
            <a:ext cx="7585731" cy="830997"/>
          </a:xfrm>
          <a:prstGeom prst="rect">
            <a:avLst/>
          </a:prstGeom>
          <a:noFill/>
        </p:spPr>
        <p:txBody>
          <a:bodyPr wrap="none" rtlCol="0">
            <a:spAutoFit/>
          </a:bodyPr>
          <a:lstStyle/>
          <a:p>
            <a:r>
              <a:rPr lang="en-US" sz="4800">
                <a:solidFill>
                  <a:schemeClr val="bg1"/>
                </a:solidFill>
                <a:latin typeface="Aptos Slab ExtraBold" panose="020F0502020204030204" pitchFamily="34" charset="0"/>
              </a:rPr>
              <a:t>History of Chemical Spills</a:t>
            </a:r>
          </a:p>
        </p:txBody>
      </p:sp>
      <p:pic>
        <p:nvPicPr>
          <p:cNvPr id="3074" name="Picture 2">
            <a:extLst>
              <a:ext uri="{FF2B5EF4-FFF2-40B4-BE49-F238E27FC236}">
                <a16:creationId xmlns:a16="http://schemas.microsoft.com/office/drawing/2014/main" id="{FB661FD1-96C5-CB60-9AFD-8D12A2CA88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0921" y="1356737"/>
            <a:ext cx="6030087" cy="46634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259030C-D3A7-B220-EAC9-199CD4D610BD}"/>
              </a:ext>
            </a:extLst>
          </p:cNvPr>
          <p:cNvSpPr txBox="1"/>
          <p:nvPr/>
        </p:nvSpPr>
        <p:spPr>
          <a:xfrm>
            <a:off x="5840921" y="6115923"/>
            <a:ext cx="5558599" cy="707886"/>
          </a:xfrm>
          <a:prstGeom prst="rect">
            <a:avLst/>
          </a:prstGeom>
          <a:noFill/>
        </p:spPr>
        <p:txBody>
          <a:bodyPr wrap="square" rtlCol="0">
            <a:spAutoFit/>
          </a:bodyPr>
          <a:lstStyle/>
          <a:p>
            <a:r>
              <a:rPr lang="en-US" sz="1600">
                <a:solidFill>
                  <a:schemeClr val="bg1"/>
                </a:solidFill>
                <a:latin typeface="Aptos Slab ExtraBold" panose="020B0004020202020204" pitchFamily="34" charset="0"/>
              </a:rPr>
              <a:t>Image of a shipyard in the Gowanus Canal in the 1850s. </a:t>
            </a:r>
          </a:p>
          <a:p>
            <a:r>
              <a:rPr lang="en-US" sz="1200" i="1">
                <a:solidFill>
                  <a:schemeClr val="bg1"/>
                </a:solidFill>
                <a:latin typeface="Aptos Slab ExtraBold" panose="020B0004020202020204" pitchFamily="34" charset="0"/>
              </a:rPr>
              <a:t>History</a:t>
            </a:r>
            <a:r>
              <a:rPr lang="en-US" sz="1200">
                <a:solidFill>
                  <a:schemeClr val="bg1"/>
                </a:solidFill>
                <a:latin typeface="Aptos Slab ExtraBold" panose="020B0004020202020204" pitchFamily="34" charset="0"/>
              </a:rPr>
              <a:t>. Gowanus Canal Conservatory. </a:t>
            </a:r>
            <a:r>
              <a:rPr lang="en-US" sz="1200">
                <a:solidFill>
                  <a:schemeClr val="bg1"/>
                </a:solidFill>
                <a:latin typeface="Aptos Slab ExtraBold" panose="020B0004020202020204" pitchFamily="34" charset="0"/>
                <a:hlinkClick r:id="rId4">
                  <a:extLst>
                    <a:ext uri="{A12FA001-AC4F-418D-AE19-62706E023703}">
                      <ahyp:hlinkClr xmlns:ahyp="http://schemas.microsoft.com/office/drawing/2018/hyperlinkcolor" val="tx"/>
                    </a:ext>
                  </a:extLst>
                </a:hlinkClick>
              </a:rPr>
              <a:t>https://gowanuscanalconservancy.org/history/</a:t>
            </a:r>
            <a:r>
              <a:rPr lang="en-US" sz="1200">
                <a:solidFill>
                  <a:schemeClr val="bg1"/>
                </a:solidFill>
                <a:latin typeface="Aptos Slab ExtraBold" panose="020B0004020202020204" pitchFamily="34" charset="0"/>
              </a:rPr>
              <a:t>. </a:t>
            </a:r>
          </a:p>
        </p:txBody>
      </p:sp>
      <p:pic>
        <p:nvPicPr>
          <p:cNvPr id="8" name="Picture 7">
            <a:extLst>
              <a:ext uri="{FF2B5EF4-FFF2-40B4-BE49-F238E27FC236}">
                <a16:creationId xmlns:a16="http://schemas.microsoft.com/office/drawing/2014/main" id="{C57149E7-7ABE-5999-BCDA-57835FE67C2D}"/>
              </a:ext>
            </a:extLst>
          </p:cNvPr>
          <p:cNvPicPr>
            <a:picLocks noChangeAspect="1"/>
          </p:cNvPicPr>
          <p:nvPr/>
        </p:nvPicPr>
        <p:blipFill>
          <a:blip r:embed="rId5"/>
          <a:stretch>
            <a:fillRect/>
          </a:stretch>
        </p:blipFill>
        <p:spPr>
          <a:xfrm>
            <a:off x="6034401" y="908100"/>
            <a:ext cx="4037571" cy="5902882"/>
          </a:xfrm>
          <a:prstGeom prst="rect">
            <a:avLst/>
          </a:prstGeom>
        </p:spPr>
      </p:pic>
      <p:sp>
        <p:nvSpPr>
          <p:cNvPr id="9" name="TextBox 8">
            <a:extLst>
              <a:ext uri="{FF2B5EF4-FFF2-40B4-BE49-F238E27FC236}">
                <a16:creationId xmlns:a16="http://schemas.microsoft.com/office/drawing/2014/main" id="{1963032A-20E1-68B6-2D8E-DFCF92D2271D}"/>
              </a:ext>
            </a:extLst>
          </p:cNvPr>
          <p:cNvSpPr txBox="1"/>
          <p:nvPr/>
        </p:nvSpPr>
        <p:spPr>
          <a:xfrm>
            <a:off x="10095034" y="995524"/>
            <a:ext cx="1997656" cy="5509200"/>
          </a:xfrm>
          <a:prstGeom prst="rect">
            <a:avLst/>
          </a:prstGeom>
          <a:noFill/>
        </p:spPr>
        <p:txBody>
          <a:bodyPr wrap="square" rtlCol="0">
            <a:spAutoFit/>
          </a:bodyPr>
          <a:lstStyle/>
          <a:p>
            <a:r>
              <a:rPr lang="en-US" sz="1600" b="1">
                <a:solidFill>
                  <a:schemeClr val="bg1"/>
                </a:solidFill>
                <a:latin typeface="Aptos Slab ExtraBold" panose="020B0004020202020204" pitchFamily="34" charset="0"/>
              </a:rPr>
              <a:t>1924 aerial photograph of the </a:t>
            </a:r>
            <a:r>
              <a:rPr lang="en-US" sz="1600">
                <a:solidFill>
                  <a:schemeClr val="bg1"/>
                </a:solidFill>
                <a:latin typeface="Aptos Slab ExtraBold" panose="020B0004020202020204" pitchFamily="34" charset="0"/>
              </a:rPr>
              <a:t>Gowanus:</a:t>
            </a:r>
          </a:p>
          <a:p>
            <a:r>
              <a:rPr lang="en-US" sz="1600">
                <a:solidFill>
                  <a:schemeClr val="bg1"/>
                </a:solidFill>
                <a:latin typeface="Aptos Slab ExtraBold" panose="020B0004020202020204" pitchFamily="34" charset="0"/>
              </a:rPr>
              <a:t>1: The future Carroll Street Subway Station; </a:t>
            </a:r>
          </a:p>
          <a:p>
            <a:r>
              <a:rPr lang="en-US" sz="1600" b="1">
                <a:solidFill>
                  <a:schemeClr val="bg1"/>
                </a:solidFill>
                <a:latin typeface="Aptos Slab ExtraBold" panose="020B0004020202020204" pitchFamily="34" charset="0"/>
              </a:rPr>
              <a:t>2</a:t>
            </a:r>
            <a:r>
              <a:rPr lang="en-US" sz="1600">
                <a:solidFill>
                  <a:schemeClr val="bg1"/>
                </a:solidFill>
                <a:latin typeface="Aptos Slab ExtraBold" panose="020B0004020202020204" pitchFamily="34" charset="0"/>
              </a:rPr>
              <a:t>: Citizens Gas Works; </a:t>
            </a:r>
          </a:p>
          <a:p>
            <a:r>
              <a:rPr lang="en-US" sz="1600" b="1">
                <a:solidFill>
                  <a:schemeClr val="bg1"/>
                </a:solidFill>
                <a:latin typeface="Aptos Slab ExtraBold" panose="020B0004020202020204" pitchFamily="34" charset="0"/>
              </a:rPr>
              <a:t>3</a:t>
            </a:r>
            <a:r>
              <a:rPr lang="en-US" sz="1600">
                <a:solidFill>
                  <a:schemeClr val="bg1"/>
                </a:solidFill>
                <a:latin typeface="Aptos Slab ExtraBold" panose="020B0004020202020204" pitchFamily="34" charset="0"/>
              </a:rPr>
              <a:t>: Metropolitan Gas Works; </a:t>
            </a:r>
          </a:p>
          <a:p>
            <a:r>
              <a:rPr lang="en-US" sz="1600" b="1">
                <a:solidFill>
                  <a:schemeClr val="bg1"/>
                </a:solidFill>
                <a:latin typeface="Aptos Slab ExtraBold" panose="020B0004020202020204" pitchFamily="34" charset="0"/>
              </a:rPr>
              <a:t>4</a:t>
            </a:r>
            <a:r>
              <a:rPr lang="en-US" sz="1600">
                <a:solidFill>
                  <a:schemeClr val="bg1"/>
                </a:solidFill>
                <a:latin typeface="Aptos Slab ExtraBold" panose="020B0004020202020204" pitchFamily="34" charset="0"/>
              </a:rPr>
              <a:t>: The 1st Street Basin and; </a:t>
            </a:r>
          </a:p>
          <a:p>
            <a:r>
              <a:rPr lang="en-US" sz="1600" b="1">
                <a:solidFill>
                  <a:schemeClr val="bg1"/>
                </a:solidFill>
                <a:latin typeface="Aptos Slab ExtraBold" panose="020B0004020202020204" pitchFamily="34" charset="0"/>
              </a:rPr>
              <a:t>5</a:t>
            </a:r>
            <a:r>
              <a:rPr lang="en-US" sz="1600">
                <a:solidFill>
                  <a:schemeClr val="bg1"/>
                </a:solidFill>
                <a:latin typeface="Aptos Slab ExtraBold" panose="020B0004020202020204" pitchFamily="34" charset="0"/>
              </a:rPr>
              <a:t> - The Brooklyn Trolley Dodgers Stadium</a:t>
            </a:r>
          </a:p>
          <a:p>
            <a:endParaRPr lang="en-US" sz="1600">
              <a:solidFill>
                <a:schemeClr val="bg1"/>
              </a:solidFill>
              <a:latin typeface="Aptos Slab ExtraBold" panose="020B0004020202020204" pitchFamily="34" charset="0"/>
            </a:endParaRPr>
          </a:p>
          <a:p>
            <a:r>
              <a:rPr lang="en-US" sz="1200">
                <a:solidFill>
                  <a:schemeClr val="bg1"/>
                </a:solidFill>
                <a:latin typeface="Aptos Slab ExtraBold" panose="020B0004020202020204" pitchFamily="34" charset="0"/>
              </a:rPr>
              <a:t>Admin, G. C. C. </a:t>
            </a:r>
            <a:r>
              <a:rPr lang="en-US" sz="1200" i="1">
                <a:solidFill>
                  <a:schemeClr val="bg1"/>
                </a:solidFill>
                <a:latin typeface="Aptos Slab ExtraBold" panose="020B0004020202020204" pitchFamily="34" charset="0"/>
              </a:rPr>
              <a:t>Hall of Gowanus</a:t>
            </a:r>
            <a:r>
              <a:rPr lang="en-US" sz="1200">
                <a:solidFill>
                  <a:schemeClr val="bg1"/>
                </a:solidFill>
                <a:latin typeface="Aptos Slab ExtraBold" panose="020B0004020202020204" pitchFamily="34" charset="0"/>
              </a:rPr>
              <a:t>. ArcGIS </a:t>
            </a:r>
            <a:r>
              <a:rPr lang="en-US" sz="1200" err="1">
                <a:solidFill>
                  <a:schemeClr val="bg1"/>
                </a:solidFill>
                <a:latin typeface="Aptos Slab ExtraBold" panose="020B0004020202020204" pitchFamily="34" charset="0"/>
              </a:rPr>
              <a:t>StoryMaps</a:t>
            </a:r>
            <a:r>
              <a:rPr lang="en-US" sz="1200">
                <a:solidFill>
                  <a:schemeClr val="bg1"/>
                </a:solidFill>
                <a:latin typeface="Aptos Slab ExtraBold" panose="020B0004020202020204" pitchFamily="34" charset="0"/>
              </a:rPr>
              <a:t>. </a:t>
            </a:r>
            <a:r>
              <a:rPr lang="en-US" sz="1200">
                <a:solidFill>
                  <a:schemeClr val="bg1"/>
                </a:solidFill>
                <a:latin typeface="Aptos Slab ExtraBold" panose="020B0004020202020204" pitchFamily="34" charset="0"/>
                <a:hlinkClick r:id="rId6">
                  <a:extLst>
                    <a:ext uri="{A12FA001-AC4F-418D-AE19-62706E023703}">
                      <ahyp:hlinkClr xmlns:ahyp="http://schemas.microsoft.com/office/drawing/2018/hyperlinkcolor" val="tx"/>
                    </a:ext>
                  </a:extLst>
                </a:hlinkClick>
              </a:rPr>
              <a:t>https://storymaps.arcgis.com/stories/629c46b2651f4ceab0f4678250dfbbc2</a:t>
            </a:r>
            <a:r>
              <a:rPr lang="en-US" sz="1200">
                <a:solidFill>
                  <a:schemeClr val="bg1"/>
                </a:solidFill>
                <a:latin typeface="Aptos Slab ExtraBold" panose="020B0004020202020204" pitchFamily="34" charset="0"/>
              </a:rPr>
              <a:t>. </a:t>
            </a:r>
          </a:p>
        </p:txBody>
      </p:sp>
      <p:pic>
        <p:nvPicPr>
          <p:cNvPr id="11" name="Picture 10">
            <a:extLst>
              <a:ext uri="{FF2B5EF4-FFF2-40B4-BE49-F238E27FC236}">
                <a16:creationId xmlns:a16="http://schemas.microsoft.com/office/drawing/2014/main" id="{EAA080D7-E025-68FD-14CD-B5B418FEBD8F}"/>
              </a:ext>
            </a:extLst>
          </p:cNvPr>
          <p:cNvPicPr>
            <a:picLocks noChangeAspect="1"/>
          </p:cNvPicPr>
          <p:nvPr/>
        </p:nvPicPr>
        <p:blipFill>
          <a:blip r:embed="rId7"/>
          <a:stretch>
            <a:fillRect/>
          </a:stretch>
        </p:blipFill>
        <p:spPr>
          <a:xfrm>
            <a:off x="6014697" y="909321"/>
            <a:ext cx="5682533" cy="4826557"/>
          </a:xfrm>
          <a:prstGeom prst="rect">
            <a:avLst/>
          </a:prstGeom>
        </p:spPr>
      </p:pic>
      <p:sp>
        <p:nvSpPr>
          <p:cNvPr id="12" name="TextBox 11">
            <a:extLst>
              <a:ext uri="{FF2B5EF4-FFF2-40B4-BE49-F238E27FC236}">
                <a16:creationId xmlns:a16="http://schemas.microsoft.com/office/drawing/2014/main" id="{7E2C2AB1-0C29-0CD6-6F34-6F4D76E435C7}"/>
              </a:ext>
            </a:extLst>
          </p:cNvPr>
          <p:cNvSpPr txBox="1"/>
          <p:nvPr/>
        </p:nvSpPr>
        <p:spPr>
          <a:xfrm>
            <a:off x="6014697" y="5697883"/>
            <a:ext cx="6054039" cy="1200329"/>
          </a:xfrm>
          <a:prstGeom prst="rect">
            <a:avLst/>
          </a:prstGeom>
          <a:noFill/>
        </p:spPr>
        <p:txBody>
          <a:bodyPr wrap="square" rtlCol="0">
            <a:spAutoFit/>
          </a:bodyPr>
          <a:lstStyle/>
          <a:p>
            <a:r>
              <a:rPr lang="en-US" sz="1600" b="1">
                <a:solidFill>
                  <a:schemeClr val="bg1"/>
                </a:solidFill>
                <a:latin typeface="Aptos Slab ExtraBold" panose="020B0004020202020204" pitchFamily="34" charset="0"/>
              </a:rPr>
              <a:t>One of three Citizens Manufactured gas plants, built by the Citizens Gas Company, around the Gowanus. The plant supplied energy to Brooklyn from the 1860s to 1960s.</a:t>
            </a:r>
          </a:p>
          <a:p>
            <a:r>
              <a:rPr lang="en-US" sz="1200">
                <a:solidFill>
                  <a:schemeClr val="bg1"/>
                </a:solidFill>
                <a:latin typeface="Aptos Slab ExtraBold" panose="020B0004020202020204" pitchFamily="34" charset="0"/>
              </a:rPr>
              <a:t>Admin, G. C. C. </a:t>
            </a:r>
            <a:r>
              <a:rPr lang="en-US" sz="1200" i="1">
                <a:solidFill>
                  <a:schemeClr val="bg1"/>
                </a:solidFill>
                <a:latin typeface="Aptos Slab ExtraBold" panose="020B0004020202020204" pitchFamily="34" charset="0"/>
              </a:rPr>
              <a:t>Hall of Gowanus</a:t>
            </a:r>
            <a:r>
              <a:rPr lang="en-US" sz="1200">
                <a:solidFill>
                  <a:schemeClr val="bg1"/>
                </a:solidFill>
                <a:latin typeface="Aptos Slab ExtraBold" panose="020B0004020202020204" pitchFamily="34" charset="0"/>
              </a:rPr>
              <a:t>. ArcGIS </a:t>
            </a:r>
            <a:r>
              <a:rPr lang="en-US" sz="1200" err="1">
                <a:solidFill>
                  <a:schemeClr val="bg1"/>
                </a:solidFill>
                <a:latin typeface="Aptos Slab ExtraBold" panose="020B0004020202020204" pitchFamily="34" charset="0"/>
              </a:rPr>
              <a:t>StoryMaps</a:t>
            </a:r>
            <a:r>
              <a:rPr lang="en-US" sz="1200">
                <a:solidFill>
                  <a:schemeClr val="bg1"/>
                </a:solidFill>
                <a:latin typeface="Aptos Slab ExtraBold" panose="020B0004020202020204" pitchFamily="34" charset="0"/>
              </a:rPr>
              <a:t>. </a:t>
            </a:r>
            <a:r>
              <a:rPr lang="en-US" sz="1200">
                <a:solidFill>
                  <a:schemeClr val="bg1"/>
                </a:solidFill>
                <a:latin typeface="Aptos Slab ExtraBold" panose="020B0004020202020204" pitchFamily="34" charset="0"/>
                <a:hlinkClick r:id="rId6">
                  <a:extLst>
                    <a:ext uri="{A12FA001-AC4F-418D-AE19-62706E023703}">
                      <ahyp:hlinkClr xmlns:ahyp="http://schemas.microsoft.com/office/drawing/2018/hyperlinkcolor" val="tx"/>
                    </a:ext>
                  </a:extLst>
                </a:hlinkClick>
              </a:rPr>
              <a:t>https://storymaps.arcgis.com/stories/629c46b2651f4ceab0f4678250dfbbc2</a:t>
            </a:r>
            <a:r>
              <a:rPr lang="en-US" sz="1200">
                <a:solidFill>
                  <a:schemeClr val="bg1"/>
                </a:solidFill>
                <a:latin typeface="Aptos Slab ExtraBold" panose="020B0004020202020204" pitchFamily="34" charset="0"/>
              </a:rPr>
              <a:t>. </a:t>
            </a:r>
          </a:p>
        </p:txBody>
      </p:sp>
    </p:spTree>
    <p:extLst>
      <p:ext uri="{BB962C8B-B14F-4D97-AF65-F5344CB8AC3E}">
        <p14:creationId xmlns:p14="http://schemas.microsoft.com/office/powerpoint/2010/main" val="3140541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07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8"/>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9" grpId="1"/>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5595-CD34-75FB-F2C7-40130429012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F5A1803-A66A-77D0-63F2-B89A2C51BB6E}"/>
              </a:ext>
            </a:extLst>
          </p:cNvPr>
          <p:cNvSpPr/>
          <p:nvPr/>
        </p:nvSpPr>
        <p:spPr>
          <a:xfrm>
            <a:off x="0" y="0"/>
            <a:ext cx="12192000" cy="6858000"/>
          </a:xfrm>
          <a:prstGeom prst="rect">
            <a:avLst/>
          </a:prstGeom>
          <a:solidFill>
            <a:srgbClr val="BA9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F0AF51B-10F6-7E83-6C19-5AB2F0A5E0D4}"/>
              </a:ext>
            </a:extLst>
          </p:cNvPr>
          <p:cNvSpPr txBox="1"/>
          <p:nvPr/>
        </p:nvSpPr>
        <p:spPr>
          <a:xfrm>
            <a:off x="190500" y="254000"/>
            <a:ext cx="10807700" cy="830997"/>
          </a:xfrm>
          <a:prstGeom prst="rect">
            <a:avLst/>
          </a:prstGeom>
          <a:noFill/>
        </p:spPr>
        <p:txBody>
          <a:bodyPr wrap="square" rtlCol="0">
            <a:spAutoFit/>
          </a:bodyPr>
          <a:lstStyle/>
          <a:p>
            <a:r>
              <a:rPr lang="en-US" sz="4800">
                <a:solidFill>
                  <a:schemeClr val="bg1"/>
                </a:solidFill>
                <a:latin typeface="Aptos Slab ExtraBold" panose="020F0502020204030204" pitchFamily="34" charset="0"/>
              </a:rPr>
              <a:t>Current Status: Construction </a:t>
            </a:r>
          </a:p>
        </p:txBody>
      </p:sp>
      <p:pic>
        <p:nvPicPr>
          <p:cNvPr id="9" name="Picture 8">
            <a:extLst>
              <a:ext uri="{FF2B5EF4-FFF2-40B4-BE49-F238E27FC236}">
                <a16:creationId xmlns:a16="http://schemas.microsoft.com/office/drawing/2014/main" id="{B2A70809-B1DE-30BA-CBDD-D968C2C35C7B}"/>
              </a:ext>
            </a:extLst>
          </p:cNvPr>
          <p:cNvPicPr>
            <a:picLocks noChangeAspect="1"/>
          </p:cNvPicPr>
          <p:nvPr/>
        </p:nvPicPr>
        <p:blipFill>
          <a:blip r:embed="rId3"/>
          <a:stretch>
            <a:fillRect/>
          </a:stretch>
        </p:blipFill>
        <p:spPr>
          <a:xfrm>
            <a:off x="680414" y="1446584"/>
            <a:ext cx="3739756" cy="4857122"/>
          </a:xfrm>
          <a:prstGeom prst="rect">
            <a:avLst/>
          </a:prstGeom>
        </p:spPr>
      </p:pic>
      <p:pic>
        <p:nvPicPr>
          <p:cNvPr id="6" name="Picture 5">
            <a:extLst>
              <a:ext uri="{FF2B5EF4-FFF2-40B4-BE49-F238E27FC236}">
                <a16:creationId xmlns:a16="http://schemas.microsoft.com/office/drawing/2014/main" id="{E8BA274A-DDF8-FA38-A8FB-2C05752CD59B}"/>
              </a:ext>
            </a:extLst>
          </p:cNvPr>
          <p:cNvPicPr>
            <a:picLocks noChangeAspect="1"/>
          </p:cNvPicPr>
          <p:nvPr/>
        </p:nvPicPr>
        <p:blipFill>
          <a:blip r:embed="rId4"/>
          <a:stretch>
            <a:fillRect/>
          </a:stretch>
        </p:blipFill>
        <p:spPr>
          <a:xfrm>
            <a:off x="545422" y="1300897"/>
            <a:ext cx="4009741" cy="5002809"/>
          </a:xfrm>
          <a:prstGeom prst="rect">
            <a:avLst/>
          </a:prstGeom>
        </p:spPr>
      </p:pic>
      <p:pic>
        <p:nvPicPr>
          <p:cNvPr id="13" name="Picture 12">
            <a:extLst>
              <a:ext uri="{FF2B5EF4-FFF2-40B4-BE49-F238E27FC236}">
                <a16:creationId xmlns:a16="http://schemas.microsoft.com/office/drawing/2014/main" id="{CE5C5F63-D784-631D-3DBC-81760DBB4766}"/>
              </a:ext>
            </a:extLst>
          </p:cNvPr>
          <p:cNvPicPr>
            <a:picLocks noChangeAspect="1"/>
          </p:cNvPicPr>
          <p:nvPr/>
        </p:nvPicPr>
        <p:blipFill>
          <a:blip r:embed="rId5"/>
          <a:stretch>
            <a:fillRect/>
          </a:stretch>
        </p:blipFill>
        <p:spPr>
          <a:xfrm>
            <a:off x="760599" y="1198433"/>
            <a:ext cx="2943636" cy="5201376"/>
          </a:xfrm>
          <a:prstGeom prst="rect">
            <a:avLst/>
          </a:prstGeom>
        </p:spPr>
      </p:pic>
      <p:sp>
        <p:nvSpPr>
          <p:cNvPr id="14" name="TextBox 13">
            <a:extLst>
              <a:ext uri="{FF2B5EF4-FFF2-40B4-BE49-F238E27FC236}">
                <a16:creationId xmlns:a16="http://schemas.microsoft.com/office/drawing/2014/main" id="{BF061317-CF77-6D6E-A04E-D6D7CEFE2C70}"/>
              </a:ext>
            </a:extLst>
          </p:cNvPr>
          <p:cNvSpPr txBox="1"/>
          <p:nvPr/>
        </p:nvSpPr>
        <p:spPr>
          <a:xfrm>
            <a:off x="4755423" y="1263862"/>
            <a:ext cx="7157177" cy="6001643"/>
          </a:xfrm>
          <a:prstGeom prst="rect">
            <a:avLst/>
          </a:prstGeom>
          <a:noFill/>
        </p:spPr>
        <p:txBody>
          <a:bodyPr wrap="square" rtlCol="0">
            <a:spAutoFit/>
          </a:bodyPr>
          <a:lstStyle/>
          <a:p>
            <a:r>
              <a:rPr lang="en-US" sz="1600">
                <a:solidFill>
                  <a:schemeClr val="bg1"/>
                </a:solidFill>
                <a:latin typeface="Aptos Slab ExtraBold" panose="020F0502020204030204" pitchFamily="34" charset="0"/>
              </a:rPr>
              <a:t>While most of the fossil fuel manufacturing facilities have been destroyed, there are mass amounts of construction happening in the area, mostly residential, a recent count, estimating  141 residential projects currently in development. An 82-acre rezoning plan approved in November of 2021, is slated to bring upwards of 9,000 units or 20,000 new residents by 2035. </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“More housing is going up right now [in Gowanus] than anywhere else in the city.” – Brad Lander</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The first of many residential blocks in the new rezoning to be completed was 420 Carrol Street by fxcollaborative and began move-ins back in February. These luxury housing complexes glossing over or romanticizing the canal’s history, only to posit themselves on the forefront of the area’s transformation into a sort of Venice or Copenhagen of New York. However, the neighborhood has allocated $20 million for improvements to be done to two nearby New York City Housing Authority sites: the Gowanus Houses and the Wyckoff Gardens.</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Not only are the construction sites filled with debris, but the surrounding canal and public spaces are also being treated as disposal sites for these projects, some of which look abandoned.</a:t>
            </a:r>
          </a:p>
          <a:p>
            <a:endParaRPr lang="en-US" sz="1600">
              <a:solidFill>
                <a:schemeClr val="bg1"/>
              </a:solidFill>
              <a:latin typeface="Aptos Slab ExtraBold" panose="020F0502020204030204" pitchFamily="34" charset="0"/>
            </a:endParaRPr>
          </a:p>
          <a:p>
            <a:endParaRPr lang="en-US" sz="1600">
              <a:solidFill>
                <a:schemeClr val="bg1"/>
              </a:solidFill>
              <a:latin typeface="Aptos Slab ExtraBold" panose="020F0502020204030204" pitchFamily="34" charset="0"/>
            </a:endParaRPr>
          </a:p>
        </p:txBody>
      </p:sp>
    </p:spTree>
    <p:extLst>
      <p:ext uri="{BB962C8B-B14F-4D97-AF65-F5344CB8AC3E}">
        <p14:creationId xmlns:p14="http://schemas.microsoft.com/office/powerpoint/2010/main" val="281222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xit" presetSubtype="0" fill="hold" nodeType="withEffect">
                                  <p:stCondLst>
                                    <p:cond delay="0"/>
                                  </p:stCondLst>
                                  <p:childTnLst>
                                    <p:animEffect transition="out" filter="fade">
                                      <p:cBhvr>
                                        <p:cTn id="9" dur="500"/>
                                        <p:tgtEl>
                                          <p:spTgt spid="13"/>
                                        </p:tgtEl>
                                      </p:cBhvr>
                                    </p:animEffect>
                                    <p:set>
                                      <p:cBhvr>
                                        <p:cTn id="10" dur="1" fill="hold">
                                          <p:stCondLst>
                                            <p:cond delay="499"/>
                                          </p:stCondLst>
                                        </p:cTn>
                                        <p:tgtEl>
                                          <p:spTgt spid="1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xit" presetSubtype="0" fill="hold" nodeType="withEffect">
                                  <p:stCondLst>
                                    <p:cond delay="0"/>
                                  </p:stCondLst>
                                  <p:childTnLst>
                                    <p:animEffect transition="out" filter="fade">
                                      <p:cBhvr>
                                        <p:cTn id="17" dur="500"/>
                                        <p:tgtEl>
                                          <p:spTgt spid="6"/>
                                        </p:tgtEl>
                                      </p:cBhvr>
                                    </p:animEffect>
                                    <p:set>
                                      <p:cBhvr>
                                        <p:cTn id="18"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49023-B9AD-6F4C-65DB-1BF3736075F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B85EDD7-D105-53D6-0898-A640614F8A3E}"/>
              </a:ext>
            </a:extLst>
          </p:cNvPr>
          <p:cNvSpPr/>
          <p:nvPr/>
        </p:nvSpPr>
        <p:spPr>
          <a:xfrm>
            <a:off x="0" y="0"/>
            <a:ext cx="12192000" cy="6858000"/>
          </a:xfrm>
          <a:prstGeom prst="rect">
            <a:avLst/>
          </a:prstGeom>
          <a:solidFill>
            <a:srgbClr val="A3B59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6FF289D-107C-47F0-30FD-04E373D9DA48}"/>
              </a:ext>
            </a:extLst>
          </p:cNvPr>
          <p:cNvSpPr txBox="1"/>
          <p:nvPr/>
        </p:nvSpPr>
        <p:spPr>
          <a:xfrm>
            <a:off x="190500" y="254000"/>
            <a:ext cx="10807700" cy="830997"/>
          </a:xfrm>
          <a:prstGeom prst="rect">
            <a:avLst/>
          </a:prstGeom>
          <a:noFill/>
        </p:spPr>
        <p:txBody>
          <a:bodyPr wrap="square" rtlCol="0">
            <a:spAutoFit/>
          </a:bodyPr>
          <a:lstStyle/>
          <a:p>
            <a:r>
              <a:rPr lang="en-US" sz="4800">
                <a:solidFill>
                  <a:schemeClr val="bg1"/>
                </a:solidFill>
                <a:latin typeface="Aptos Slab ExtraBold" panose="020F0502020204030204" pitchFamily="34" charset="0"/>
              </a:rPr>
              <a:t>Waste Disposal + Public Areas</a:t>
            </a:r>
          </a:p>
        </p:txBody>
      </p:sp>
      <p:pic>
        <p:nvPicPr>
          <p:cNvPr id="4" name="Picture 3">
            <a:extLst>
              <a:ext uri="{FF2B5EF4-FFF2-40B4-BE49-F238E27FC236}">
                <a16:creationId xmlns:a16="http://schemas.microsoft.com/office/drawing/2014/main" id="{B369F5DA-3510-8093-4DAE-D64D725D6991}"/>
              </a:ext>
            </a:extLst>
          </p:cNvPr>
          <p:cNvPicPr>
            <a:picLocks noChangeAspect="1"/>
          </p:cNvPicPr>
          <p:nvPr/>
        </p:nvPicPr>
        <p:blipFill>
          <a:blip r:embed="rId3"/>
          <a:stretch>
            <a:fillRect/>
          </a:stretch>
        </p:blipFill>
        <p:spPr>
          <a:xfrm>
            <a:off x="8064292" y="1259615"/>
            <a:ext cx="3619708" cy="5116317"/>
          </a:xfrm>
          <a:prstGeom prst="rect">
            <a:avLst/>
          </a:prstGeom>
        </p:spPr>
      </p:pic>
      <p:pic>
        <p:nvPicPr>
          <p:cNvPr id="8" name="Picture 7">
            <a:extLst>
              <a:ext uri="{FF2B5EF4-FFF2-40B4-BE49-F238E27FC236}">
                <a16:creationId xmlns:a16="http://schemas.microsoft.com/office/drawing/2014/main" id="{C55098A9-BC44-0827-8DA8-57289A772C86}"/>
              </a:ext>
            </a:extLst>
          </p:cNvPr>
          <p:cNvPicPr>
            <a:picLocks noChangeAspect="1"/>
          </p:cNvPicPr>
          <p:nvPr/>
        </p:nvPicPr>
        <p:blipFill>
          <a:blip r:embed="rId4"/>
          <a:srcRect b="10077"/>
          <a:stretch>
            <a:fillRect/>
          </a:stretch>
        </p:blipFill>
        <p:spPr>
          <a:xfrm>
            <a:off x="8044942" y="1084997"/>
            <a:ext cx="3639058" cy="5439619"/>
          </a:xfrm>
          <a:prstGeom prst="rect">
            <a:avLst/>
          </a:prstGeom>
        </p:spPr>
      </p:pic>
      <p:pic>
        <p:nvPicPr>
          <p:cNvPr id="11" name="Picture 10">
            <a:extLst>
              <a:ext uri="{FF2B5EF4-FFF2-40B4-BE49-F238E27FC236}">
                <a16:creationId xmlns:a16="http://schemas.microsoft.com/office/drawing/2014/main" id="{5312617A-4688-6506-5EBA-FE5DADDF411A}"/>
              </a:ext>
            </a:extLst>
          </p:cNvPr>
          <p:cNvPicPr>
            <a:picLocks noChangeAspect="1"/>
          </p:cNvPicPr>
          <p:nvPr/>
        </p:nvPicPr>
        <p:blipFill>
          <a:blip r:embed="rId5"/>
          <a:stretch>
            <a:fillRect/>
          </a:stretch>
        </p:blipFill>
        <p:spPr>
          <a:xfrm>
            <a:off x="8209237" y="1084997"/>
            <a:ext cx="3329818" cy="5439619"/>
          </a:xfrm>
          <a:prstGeom prst="rect">
            <a:avLst/>
          </a:prstGeom>
        </p:spPr>
      </p:pic>
      <p:sp>
        <p:nvSpPr>
          <p:cNvPr id="12" name="TextBox 11">
            <a:extLst>
              <a:ext uri="{FF2B5EF4-FFF2-40B4-BE49-F238E27FC236}">
                <a16:creationId xmlns:a16="http://schemas.microsoft.com/office/drawing/2014/main" id="{DF048094-471F-F04C-8C87-9B7C987AC6D5}"/>
              </a:ext>
            </a:extLst>
          </p:cNvPr>
          <p:cNvSpPr txBox="1"/>
          <p:nvPr/>
        </p:nvSpPr>
        <p:spPr>
          <a:xfrm>
            <a:off x="508000" y="1338997"/>
            <a:ext cx="7157177" cy="3293209"/>
          </a:xfrm>
          <a:prstGeom prst="rect">
            <a:avLst/>
          </a:prstGeom>
          <a:noFill/>
        </p:spPr>
        <p:txBody>
          <a:bodyPr wrap="square" rtlCol="0">
            <a:spAutoFit/>
          </a:bodyPr>
          <a:lstStyle/>
          <a:p>
            <a:r>
              <a:rPr lang="en-US" sz="1600">
                <a:solidFill>
                  <a:schemeClr val="bg1"/>
                </a:solidFill>
                <a:latin typeface="Aptos Slab ExtraBold" panose="020F0502020204030204" pitchFamily="34" charset="0"/>
              </a:rPr>
              <a:t>The superfund site has multiple public spaces such as seating areas, kayaking docks, and small gardens surrounding the canal. </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These areas at first glance look clean, but at closer inspection there are old tarps sitting under the sand, rusted disposal ports leading to the water,  and trash floating up and down the canal. </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The sediment along the canal is still incredibly contaminated, containing mercury, lead, and polychlorinated biphenyls .</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Currently, the EPA is overseeing cleanup of the site by removing approximately 10 feet of sludge from the canal bottom along the entire length of the canal.</a:t>
            </a:r>
            <a:endParaRPr lang="en-US" sz="3200">
              <a:solidFill>
                <a:schemeClr val="bg1"/>
              </a:solidFill>
              <a:latin typeface="Aptos Slab ExtraBold" panose="020F0502020204030204" pitchFamily="34" charset="0"/>
            </a:endParaRPr>
          </a:p>
        </p:txBody>
      </p:sp>
      <p:pic>
        <p:nvPicPr>
          <p:cNvPr id="5" name="Picture 4">
            <a:extLst>
              <a:ext uri="{FF2B5EF4-FFF2-40B4-BE49-F238E27FC236}">
                <a16:creationId xmlns:a16="http://schemas.microsoft.com/office/drawing/2014/main" id="{AF254374-DF9E-ABB4-A4D1-ACFC43F48F0F}"/>
              </a:ext>
            </a:extLst>
          </p:cNvPr>
          <p:cNvPicPr>
            <a:picLocks noChangeAspect="1"/>
          </p:cNvPicPr>
          <p:nvPr/>
        </p:nvPicPr>
        <p:blipFill>
          <a:blip r:embed="rId6"/>
          <a:srcRect l="19877"/>
          <a:stretch>
            <a:fillRect/>
          </a:stretch>
        </p:blipFill>
        <p:spPr>
          <a:xfrm>
            <a:off x="7742243" y="1447800"/>
            <a:ext cx="4244456" cy="3962400"/>
          </a:xfrm>
          <a:prstGeom prst="rect">
            <a:avLst/>
          </a:prstGeom>
        </p:spPr>
      </p:pic>
      <p:sp>
        <p:nvSpPr>
          <p:cNvPr id="9" name="TextBox 8">
            <a:extLst>
              <a:ext uri="{FF2B5EF4-FFF2-40B4-BE49-F238E27FC236}">
                <a16:creationId xmlns:a16="http://schemas.microsoft.com/office/drawing/2014/main" id="{6169F71F-273E-36BD-A5EC-BA0F9FDC9E64}"/>
              </a:ext>
            </a:extLst>
          </p:cNvPr>
          <p:cNvSpPr txBox="1"/>
          <p:nvPr/>
        </p:nvSpPr>
        <p:spPr>
          <a:xfrm>
            <a:off x="7742243" y="5563980"/>
            <a:ext cx="4407338" cy="1323439"/>
          </a:xfrm>
          <a:prstGeom prst="rect">
            <a:avLst/>
          </a:prstGeom>
          <a:noFill/>
        </p:spPr>
        <p:txBody>
          <a:bodyPr wrap="square" rtlCol="0">
            <a:spAutoFit/>
          </a:bodyPr>
          <a:lstStyle/>
          <a:p>
            <a:r>
              <a:rPr lang="en-US" sz="1600">
                <a:solidFill>
                  <a:schemeClr val="bg1"/>
                </a:solidFill>
                <a:latin typeface="Aptos Slab ExtraBold" panose="020B0004020202020204" pitchFamily="34" charset="0"/>
              </a:rPr>
              <a:t>Cleanup efforts consist of removing 10 feet of sludge from the bottom of the canal.</a:t>
            </a:r>
          </a:p>
          <a:p>
            <a:r>
              <a:rPr lang="en-US" sz="1200">
                <a:solidFill>
                  <a:schemeClr val="bg1"/>
                </a:solidFill>
                <a:latin typeface="Aptos Slab ExtraBold" panose="020B0004020202020204" pitchFamily="34" charset="0"/>
              </a:rPr>
              <a:t>Admin, G. C. C. </a:t>
            </a:r>
            <a:r>
              <a:rPr lang="en-US" sz="1200" i="1">
                <a:solidFill>
                  <a:schemeClr val="bg1"/>
                </a:solidFill>
                <a:latin typeface="Aptos Slab ExtraBold" panose="020B0004020202020204" pitchFamily="34" charset="0"/>
              </a:rPr>
              <a:t>Hall of Gowanus</a:t>
            </a:r>
            <a:r>
              <a:rPr lang="en-US" sz="1200">
                <a:solidFill>
                  <a:schemeClr val="bg1"/>
                </a:solidFill>
                <a:latin typeface="Aptos Slab ExtraBold" panose="020B0004020202020204" pitchFamily="34" charset="0"/>
              </a:rPr>
              <a:t>. ArcGIS </a:t>
            </a:r>
            <a:r>
              <a:rPr lang="en-US" sz="1200" err="1">
                <a:solidFill>
                  <a:schemeClr val="bg1"/>
                </a:solidFill>
                <a:latin typeface="Aptos Slab ExtraBold" panose="020B0004020202020204" pitchFamily="34" charset="0"/>
              </a:rPr>
              <a:t>StoryMaps</a:t>
            </a:r>
            <a:r>
              <a:rPr lang="en-US" sz="1200">
                <a:solidFill>
                  <a:schemeClr val="bg1"/>
                </a:solidFill>
                <a:latin typeface="Aptos Slab ExtraBold" panose="020B0004020202020204" pitchFamily="34" charset="0"/>
              </a:rPr>
              <a:t>. </a:t>
            </a:r>
            <a:r>
              <a:rPr lang="en-US" sz="1200">
                <a:solidFill>
                  <a:schemeClr val="bg1"/>
                </a:solidFill>
                <a:latin typeface="Aptos Slab ExtraBold" panose="020B0004020202020204" pitchFamily="34" charset="0"/>
                <a:hlinkClick r:id="rId7">
                  <a:extLst>
                    <a:ext uri="{A12FA001-AC4F-418D-AE19-62706E023703}">
                      <ahyp:hlinkClr xmlns:ahyp="http://schemas.microsoft.com/office/drawing/2018/hyperlinkcolor" val="tx"/>
                    </a:ext>
                  </a:extLst>
                </a:hlinkClick>
              </a:rPr>
              <a:t>https://storymaps.arcgis.com/stories/629c46b2651f4ceab0f4678250dfbbc2</a:t>
            </a:r>
            <a:r>
              <a:rPr lang="en-US" sz="1200">
                <a:solidFill>
                  <a:schemeClr val="bg1"/>
                </a:solidFill>
                <a:latin typeface="Aptos Slab ExtraBold" panose="020B0004020202020204" pitchFamily="34" charset="0"/>
              </a:rPr>
              <a:t>. </a:t>
            </a:r>
          </a:p>
          <a:p>
            <a:endParaRPr lang="en-US" sz="1200"/>
          </a:p>
        </p:txBody>
      </p:sp>
    </p:spTree>
    <p:extLst>
      <p:ext uri="{BB962C8B-B14F-4D97-AF65-F5344CB8AC3E}">
        <p14:creationId xmlns:p14="http://schemas.microsoft.com/office/powerpoint/2010/main" val="56757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xit" presetSubtype="0" fill="hold" nodeType="withEffect">
                                  <p:stCondLst>
                                    <p:cond delay="0"/>
                                  </p:stCondLst>
                                  <p:childTnLst>
                                    <p:animEffect transition="out" filter="fade">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xit" presetSubtype="0" fill="hold" nodeType="withEffect">
                                  <p:stCondLst>
                                    <p:cond delay="0"/>
                                  </p:stCondLst>
                                  <p:childTnLst>
                                    <p:animEffect transition="out" filter="fade">
                                      <p:cBhvr>
                                        <p:cTn id="17" dur="500"/>
                                        <p:tgtEl>
                                          <p:spTgt spid="4"/>
                                        </p:tgtEl>
                                      </p:cBhvr>
                                    </p:animEffect>
                                    <p:set>
                                      <p:cBhvr>
                                        <p:cTn id="18" dur="1" fill="hold">
                                          <p:stCondLst>
                                            <p:cond delay="499"/>
                                          </p:stCondLst>
                                        </p:cTn>
                                        <p:tgtEl>
                                          <p:spTgt spid="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1"/>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5BE3FF3-94FA-C298-4657-1332EFE9D462}"/>
              </a:ext>
            </a:extLst>
          </p:cNvPr>
          <p:cNvSpPr/>
          <p:nvPr/>
        </p:nvSpPr>
        <p:spPr>
          <a:xfrm>
            <a:off x="0" y="0"/>
            <a:ext cx="12192000" cy="6858000"/>
          </a:xfrm>
          <a:prstGeom prst="rect">
            <a:avLst/>
          </a:prstGeom>
          <a:solidFill>
            <a:srgbClr val="BF8FA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E77C2A29-18BB-199A-030C-8FBFCDE27BDA}"/>
              </a:ext>
            </a:extLst>
          </p:cNvPr>
          <p:cNvGrpSpPr/>
          <p:nvPr/>
        </p:nvGrpSpPr>
        <p:grpSpPr>
          <a:xfrm>
            <a:off x="368300" y="1452418"/>
            <a:ext cx="4051300" cy="4592782"/>
            <a:chOff x="4572000" y="3192318"/>
            <a:chExt cx="2984500" cy="3132282"/>
          </a:xfrm>
        </p:grpSpPr>
        <p:pic>
          <p:nvPicPr>
            <p:cNvPr id="2" name="Picture 1">
              <a:extLst>
                <a:ext uri="{FF2B5EF4-FFF2-40B4-BE49-F238E27FC236}">
                  <a16:creationId xmlns:a16="http://schemas.microsoft.com/office/drawing/2014/main" id="{30270F4A-EBA2-C241-B768-4E8281A242D1}"/>
                </a:ext>
              </a:extLst>
            </p:cNvPr>
            <p:cNvPicPr>
              <a:picLocks noChangeAspect="1"/>
            </p:cNvPicPr>
            <p:nvPr/>
          </p:nvPicPr>
          <p:blipFill>
            <a:blip r:embed="rId3"/>
            <a:srcRect l="52987" t="2237" r="7431" b="33944"/>
            <a:stretch>
              <a:fillRect/>
            </a:stretch>
          </p:blipFill>
          <p:spPr>
            <a:xfrm>
              <a:off x="4572000" y="3192318"/>
              <a:ext cx="2984500" cy="3132282"/>
            </a:xfrm>
            <a:prstGeom prst="rect">
              <a:avLst/>
            </a:prstGeom>
          </p:spPr>
        </p:pic>
        <p:sp>
          <p:nvSpPr>
            <p:cNvPr id="3" name="Oval 2">
              <a:extLst>
                <a:ext uri="{FF2B5EF4-FFF2-40B4-BE49-F238E27FC236}">
                  <a16:creationId xmlns:a16="http://schemas.microsoft.com/office/drawing/2014/main" id="{F7E92B38-FD98-B6DC-7F32-17214C760A51}"/>
                </a:ext>
              </a:extLst>
            </p:cNvPr>
            <p:cNvSpPr/>
            <p:nvPr/>
          </p:nvSpPr>
          <p:spPr>
            <a:xfrm>
              <a:off x="6659562" y="3897458"/>
              <a:ext cx="152400" cy="13811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A63EC99E-CEFD-5FBC-C1B0-6832686BD12F}"/>
                </a:ext>
              </a:extLst>
            </p:cNvPr>
            <p:cNvSpPr/>
            <p:nvPr/>
          </p:nvSpPr>
          <p:spPr>
            <a:xfrm>
              <a:off x="6216649" y="4488008"/>
              <a:ext cx="152400" cy="13811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5C4FF631-81F3-DA8B-A197-6F1ACF6F1558}"/>
                </a:ext>
              </a:extLst>
            </p:cNvPr>
            <p:cNvSpPr/>
            <p:nvPr/>
          </p:nvSpPr>
          <p:spPr>
            <a:xfrm>
              <a:off x="5549899" y="4278458"/>
              <a:ext cx="152400" cy="13811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5647BF9-B0A3-322D-CBC4-27F042EE52E0}"/>
                </a:ext>
              </a:extLst>
            </p:cNvPr>
            <p:cNvSpPr/>
            <p:nvPr/>
          </p:nvSpPr>
          <p:spPr>
            <a:xfrm>
              <a:off x="5397499" y="4733132"/>
              <a:ext cx="152400" cy="13811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EE09E27-56C4-2AB2-FB06-431C942745FC}"/>
                </a:ext>
              </a:extLst>
            </p:cNvPr>
            <p:cNvSpPr/>
            <p:nvPr/>
          </p:nvSpPr>
          <p:spPr>
            <a:xfrm>
              <a:off x="5135561" y="5176044"/>
              <a:ext cx="152400" cy="13811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D18ED06-B638-FDAE-9DF4-9835B8730627}"/>
                </a:ext>
              </a:extLst>
            </p:cNvPr>
            <p:cNvSpPr/>
            <p:nvPr/>
          </p:nvSpPr>
          <p:spPr>
            <a:xfrm>
              <a:off x="5345110" y="5480845"/>
              <a:ext cx="152400" cy="13811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55080B4F-0DCB-26F8-E10C-2FF16D586EC1}"/>
              </a:ext>
            </a:extLst>
          </p:cNvPr>
          <p:cNvSpPr txBox="1"/>
          <p:nvPr/>
        </p:nvSpPr>
        <p:spPr>
          <a:xfrm>
            <a:off x="190500" y="254000"/>
            <a:ext cx="10807700" cy="830997"/>
          </a:xfrm>
          <a:prstGeom prst="rect">
            <a:avLst/>
          </a:prstGeom>
          <a:noFill/>
        </p:spPr>
        <p:txBody>
          <a:bodyPr wrap="square" rtlCol="0">
            <a:spAutoFit/>
          </a:bodyPr>
          <a:lstStyle/>
          <a:p>
            <a:r>
              <a:rPr lang="en-US" sz="4800">
                <a:solidFill>
                  <a:schemeClr val="bg1"/>
                </a:solidFill>
                <a:latin typeface="Aptos Slab ExtraBold" panose="020F0502020204030204" pitchFamily="34" charset="0"/>
              </a:rPr>
              <a:t>Soil Testing (PCB)</a:t>
            </a:r>
          </a:p>
        </p:txBody>
      </p:sp>
      <p:sp>
        <p:nvSpPr>
          <p:cNvPr id="12" name="TextBox 11">
            <a:extLst>
              <a:ext uri="{FF2B5EF4-FFF2-40B4-BE49-F238E27FC236}">
                <a16:creationId xmlns:a16="http://schemas.microsoft.com/office/drawing/2014/main" id="{551DB5A1-A41A-811A-B8B9-75FA79024989}"/>
              </a:ext>
            </a:extLst>
          </p:cNvPr>
          <p:cNvSpPr txBox="1"/>
          <p:nvPr/>
        </p:nvSpPr>
        <p:spPr>
          <a:xfrm>
            <a:off x="3465970" y="2356768"/>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1</a:t>
            </a:r>
          </a:p>
        </p:txBody>
      </p:sp>
      <p:sp>
        <p:nvSpPr>
          <p:cNvPr id="13" name="TextBox 12">
            <a:extLst>
              <a:ext uri="{FF2B5EF4-FFF2-40B4-BE49-F238E27FC236}">
                <a16:creationId xmlns:a16="http://schemas.microsoft.com/office/drawing/2014/main" id="{90489400-0364-D8F0-A8E2-697CD5631C66}"/>
              </a:ext>
            </a:extLst>
          </p:cNvPr>
          <p:cNvSpPr txBox="1"/>
          <p:nvPr/>
        </p:nvSpPr>
        <p:spPr>
          <a:xfrm>
            <a:off x="2946097" y="3298608"/>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2</a:t>
            </a:r>
          </a:p>
        </p:txBody>
      </p:sp>
      <p:sp>
        <p:nvSpPr>
          <p:cNvPr id="14" name="TextBox 13">
            <a:extLst>
              <a:ext uri="{FF2B5EF4-FFF2-40B4-BE49-F238E27FC236}">
                <a16:creationId xmlns:a16="http://schemas.microsoft.com/office/drawing/2014/main" id="{BD4DF3FD-FD3B-3931-963E-9B6927026584}"/>
              </a:ext>
            </a:extLst>
          </p:cNvPr>
          <p:cNvSpPr txBox="1"/>
          <p:nvPr/>
        </p:nvSpPr>
        <p:spPr>
          <a:xfrm>
            <a:off x="1254770" y="2864772"/>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3</a:t>
            </a:r>
          </a:p>
        </p:txBody>
      </p:sp>
      <p:sp>
        <p:nvSpPr>
          <p:cNvPr id="15" name="TextBox 14">
            <a:extLst>
              <a:ext uri="{FF2B5EF4-FFF2-40B4-BE49-F238E27FC236}">
                <a16:creationId xmlns:a16="http://schemas.microsoft.com/office/drawing/2014/main" id="{EBE22B47-1973-6AD1-492F-E7EB422B85A0}"/>
              </a:ext>
            </a:extLst>
          </p:cNvPr>
          <p:cNvSpPr txBox="1"/>
          <p:nvPr/>
        </p:nvSpPr>
        <p:spPr>
          <a:xfrm>
            <a:off x="991079" y="3532017"/>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4</a:t>
            </a:r>
          </a:p>
        </p:txBody>
      </p:sp>
      <p:sp>
        <p:nvSpPr>
          <p:cNvPr id="16" name="TextBox 15">
            <a:extLst>
              <a:ext uri="{FF2B5EF4-FFF2-40B4-BE49-F238E27FC236}">
                <a16:creationId xmlns:a16="http://schemas.microsoft.com/office/drawing/2014/main" id="{98E66710-56DF-5F65-9B7E-BAB99CE92CFA}"/>
              </a:ext>
            </a:extLst>
          </p:cNvPr>
          <p:cNvSpPr txBox="1"/>
          <p:nvPr/>
        </p:nvSpPr>
        <p:spPr>
          <a:xfrm>
            <a:off x="562678" y="4231525"/>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5</a:t>
            </a:r>
          </a:p>
        </p:txBody>
      </p:sp>
      <p:sp>
        <p:nvSpPr>
          <p:cNvPr id="17" name="TextBox 16">
            <a:extLst>
              <a:ext uri="{FF2B5EF4-FFF2-40B4-BE49-F238E27FC236}">
                <a16:creationId xmlns:a16="http://schemas.microsoft.com/office/drawing/2014/main" id="{05624026-8AFD-44F1-3A93-A933953A86FA}"/>
              </a:ext>
            </a:extLst>
          </p:cNvPr>
          <p:cNvSpPr txBox="1"/>
          <p:nvPr/>
        </p:nvSpPr>
        <p:spPr>
          <a:xfrm>
            <a:off x="1722924" y="4796174"/>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6</a:t>
            </a:r>
          </a:p>
        </p:txBody>
      </p:sp>
      <p:sp>
        <p:nvSpPr>
          <p:cNvPr id="18" name="TextBox 17">
            <a:extLst>
              <a:ext uri="{FF2B5EF4-FFF2-40B4-BE49-F238E27FC236}">
                <a16:creationId xmlns:a16="http://schemas.microsoft.com/office/drawing/2014/main" id="{1FBD76ED-B489-9F26-E4C0-F1BECB6DD854}"/>
              </a:ext>
            </a:extLst>
          </p:cNvPr>
          <p:cNvSpPr txBox="1"/>
          <p:nvPr/>
        </p:nvSpPr>
        <p:spPr>
          <a:xfrm>
            <a:off x="4606944" y="1354195"/>
            <a:ext cx="7157177" cy="5262979"/>
          </a:xfrm>
          <a:prstGeom prst="rect">
            <a:avLst/>
          </a:prstGeom>
          <a:noFill/>
        </p:spPr>
        <p:txBody>
          <a:bodyPr wrap="square" rtlCol="0">
            <a:spAutoFit/>
          </a:bodyPr>
          <a:lstStyle/>
          <a:p>
            <a:r>
              <a:rPr lang="en-US" sz="1600">
                <a:solidFill>
                  <a:schemeClr val="bg1"/>
                </a:solidFill>
                <a:latin typeface="Aptos Slab ExtraBold" panose="020F0502020204030204" pitchFamily="34" charset="0"/>
              </a:rPr>
              <a:t>For the soil testing, we focused on area 1, this zone should be the least contaminated and we hypothesized we wouldn’t see noticeable levels of polychlorinated biphenyls (PCBs) in any of the selected areas. </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Biological effects of exposure to PCBs include (according to the CDC):</a:t>
            </a:r>
          </a:p>
          <a:p>
            <a:pPr marL="285750" indent="-285750">
              <a:buFont typeface="Arial" panose="020B0604020202020204" pitchFamily="34" charset="0"/>
              <a:buChar char="•"/>
            </a:pPr>
            <a:r>
              <a:rPr lang="en-US" sz="1600">
                <a:solidFill>
                  <a:schemeClr val="bg1"/>
                </a:solidFill>
                <a:latin typeface="Aptos Slab ExtraBold" panose="020F0502020204030204" pitchFamily="34" charset="0"/>
              </a:rPr>
              <a:t>Respiratory problems</a:t>
            </a:r>
          </a:p>
          <a:p>
            <a:pPr marL="285750" indent="-285750">
              <a:buFont typeface="Arial" panose="020B0604020202020204" pitchFamily="34" charset="0"/>
              <a:buChar char="•"/>
            </a:pPr>
            <a:r>
              <a:rPr lang="en-US" sz="1600">
                <a:solidFill>
                  <a:schemeClr val="bg1"/>
                </a:solidFill>
                <a:latin typeface="Aptos Slab ExtraBold" panose="020F0502020204030204" pitchFamily="34" charset="0"/>
              </a:rPr>
              <a:t>Carcinogenesis</a:t>
            </a:r>
          </a:p>
          <a:p>
            <a:pPr marL="285750" indent="-285750">
              <a:buFont typeface="Arial" panose="020B0604020202020204" pitchFamily="34" charset="0"/>
              <a:buChar char="•"/>
            </a:pPr>
            <a:r>
              <a:rPr lang="en-US" sz="1600">
                <a:solidFill>
                  <a:schemeClr val="bg1"/>
                </a:solidFill>
                <a:latin typeface="Aptos Slab ExtraBold" panose="020F0502020204030204" pitchFamily="34" charset="0"/>
              </a:rPr>
              <a:t>Dermal, reproductive, and developmental toxicity</a:t>
            </a:r>
          </a:p>
          <a:p>
            <a:pPr marL="285750" indent="-285750">
              <a:buFont typeface="Arial" panose="020B0604020202020204" pitchFamily="34" charset="0"/>
              <a:buChar char="•"/>
            </a:pPr>
            <a:r>
              <a:rPr lang="en-US" sz="1600">
                <a:solidFill>
                  <a:schemeClr val="bg1"/>
                </a:solidFill>
                <a:latin typeface="Aptos Slab ExtraBold" panose="020F0502020204030204" pitchFamily="34" charset="0"/>
              </a:rPr>
              <a:t>Fatty liver</a:t>
            </a:r>
          </a:p>
          <a:p>
            <a:pPr marL="285750" indent="-285750">
              <a:buFont typeface="Arial" panose="020B0604020202020204" pitchFamily="34" charset="0"/>
              <a:buChar char="•"/>
            </a:pPr>
            <a:r>
              <a:rPr lang="en-US" sz="1600">
                <a:solidFill>
                  <a:schemeClr val="bg1"/>
                </a:solidFill>
                <a:latin typeface="Aptos Slab ExtraBold" panose="020F0502020204030204" pitchFamily="34" charset="0"/>
              </a:rPr>
              <a:t>Neurotoxicity</a:t>
            </a:r>
          </a:p>
          <a:p>
            <a:r>
              <a:rPr lang="en-US" sz="1600">
                <a:solidFill>
                  <a:schemeClr val="bg1"/>
                </a:solidFill>
                <a:latin typeface="Aptos Slab ExtraBold" panose="020F0502020204030204" pitchFamily="34" charset="0"/>
              </a:rPr>
              <a:t>Note: most of these toxic responses were determined through animal studies. Further validation is needed to determine potential adverse human health effects from low-level environmental exposure of PCBs.</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Mechanism of PCB Toxicity:</a:t>
            </a:r>
          </a:p>
          <a:p>
            <a:pPr marL="285750" indent="-285750">
              <a:buFont typeface="Arial" panose="020B0604020202020204" pitchFamily="34" charset="0"/>
              <a:buChar char="•"/>
            </a:pPr>
            <a:r>
              <a:rPr lang="en-US" sz="1600">
                <a:solidFill>
                  <a:schemeClr val="bg1"/>
                </a:solidFill>
                <a:latin typeface="Aptos Slab ExtraBold" panose="020F0502020204030204" pitchFamily="34" charset="0"/>
              </a:rPr>
              <a:t>PCBs are metabolized in the body and produce arene oxides intermediates and </a:t>
            </a:r>
            <a:r>
              <a:rPr lang="en-US" sz="1600" err="1">
                <a:solidFill>
                  <a:schemeClr val="bg1"/>
                </a:solidFill>
                <a:latin typeface="Aptos Slab ExtraBold" panose="020F0502020204030204" pitchFamily="34" charset="0"/>
              </a:rPr>
              <a:t>methylsulfonyl</a:t>
            </a:r>
            <a:r>
              <a:rPr lang="en-US" sz="1600">
                <a:solidFill>
                  <a:schemeClr val="bg1"/>
                </a:solidFill>
                <a:latin typeface="Aptos Slab ExtraBold" panose="020F0502020204030204" pitchFamily="34" charset="0"/>
              </a:rPr>
              <a:t> metabolites</a:t>
            </a:r>
          </a:p>
          <a:p>
            <a:pPr marL="285750" indent="-285750">
              <a:buFont typeface="Arial" panose="020B0604020202020204" pitchFamily="34" charset="0"/>
              <a:buChar char="•"/>
            </a:pPr>
            <a:r>
              <a:rPr lang="en-US" sz="1600">
                <a:solidFill>
                  <a:schemeClr val="bg1"/>
                </a:solidFill>
                <a:latin typeface="Aptos Slab ExtraBold" panose="020F0502020204030204" pitchFamily="34" charset="0"/>
              </a:rPr>
              <a:t>Arene oxides are electrophilic and can bind to proteins, DNA, RNA (induce DNA strand breaks)</a:t>
            </a:r>
          </a:p>
          <a:p>
            <a:pPr marL="285750" indent="-285750">
              <a:buFont typeface="Arial" panose="020B0604020202020204" pitchFamily="34" charset="0"/>
              <a:buChar char="•"/>
            </a:pPr>
            <a:r>
              <a:rPr lang="en-US" sz="1600">
                <a:solidFill>
                  <a:schemeClr val="bg1"/>
                </a:solidFill>
                <a:latin typeface="Aptos Slab ExtraBold" panose="020F0502020204030204" pitchFamily="34" charset="0"/>
              </a:rPr>
              <a:t>Binding of </a:t>
            </a:r>
            <a:r>
              <a:rPr lang="en-US" sz="1600" err="1">
                <a:solidFill>
                  <a:schemeClr val="bg1"/>
                </a:solidFill>
                <a:latin typeface="Aptos Slab ExtraBold" panose="020F0502020204030204" pitchFamily="34" charset="0"/>
              </a:rPr>
              <a:t>methylsulfonyl</a:t>
            </a:r>
            <a:r>
              <a:rPr lang="en-US" sz="1600">
                <a:solidFill>
                  <a:schemeClr val="bg1"/>
                </a:solidFill>
                <a:latin typeface="Aptos Slab ExtraBold" panose="020F0502020204030204" pitchFamily="34" charset="0"/>
              </a:rPr>
              <a:t> metabolites to certain proteins produces toxic adducts.</a:t>
            </a:r>
          </a:p>
        </p:txBody>
      </p:sp>
    </p:spTree>
    <p:extLst>
      <p:ext uri="{BB962C8B-B14F-4D97-AF65-F5344CB8AC3E}">
        <p14:creationId xmlns:p14="http://schemas.microsoft.com/office/powerpoint/2010/main" val="1766745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337FB-922E-685B-801E-0C022ECCCC4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B6CAD52-6BFF-31CD-93F7-D1D9F2672091}"/>
              </a:ext>
            </a:extLst>
          </p:cNvPr>
          <p:cNvSpPr/>
          <p:nvPr/>
        </p:nvSpPr>
        <p:spPr>
          <a:xfrm>
            <a:off x="0" y="0"/>
            <a:ext cx="12192000" cy="6858000"/>
          </a:xfrm>
          <a:prstGeom prst="rect">
            <a:avLst/>
          </a:prstGeom>
          <a:solidFill>
            <a:srgbClr val="BAA6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94A421B-274C-034B-0EB8-531993235862}"/>
              </a:ext>
            </a:extLst>
          </p:cNvPr>
          <p:cNvSpPr txBox="1"/>
          <p:nvPr/>
        </p:nvSpPr>
        <p:spPr>
          <a:xfrm>
            <a:off x="190500" y="254000"/>
            <a:ext cx="10807700" cy="830997"/>
          </a:xfrm>
          <a:prstGeom prst="rect">
            <a:avLst/>
          </a:prstGeom>
          <a:noFill/>
        </p:spPr>
        <p:txBody>
          <a:bodyPr wrap="square" rtlCol="0">
            <a:spAutoFit/>
          </a:bodyPr>
          <a:lstStyle/>
          <a:p>
            <a:r>
              <a:rPr lang="en-US" sz="4800">
                <a:solidFill>
                  <a:schemeClr val="bg1"/>
                </a:solidFill>
                <a:latin typeface="Aptos Slab ExtraBold" panose="020F0502020204030204" pitchFamily="34" charset="0"/>
              </a:rPr>
              <a:t>Soil Testing (PCB)</a:t>
            </a:r>
          </a:p>
        </p:txBody>
      </p:sp>
      <p:sp>
        <p:nvSpPr>
          <p:cNvPr id="12" name="TextBox 11">
            <a:extLst>
              <a:ext uri="{FF2B5EF4-FFF2-40B4-BE49-F238E27FC236}">
                <a16:creationId xmlns:a16="http://schemas.microsoft.com/office/drawing/2014/main" id="{6BB0732E-0874-0568-97E4-37D2F7AC1D81}"/>
              </a:ext>
            </a:extLst>
          </p:cNvPr>
          <p:cNvSpPr txBox="1"/>
          <p:nvPr/>
        </p:nvSpPr>
        <p:spPr>
          <a:xfrm>
            <a:off x="76284" y="1364397"/>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1</a:t>
            </a:r>
          </a:p>
        </p:txBody>
      </p:sp>
      <p:grpSp>
        <p:nvGrpSpPr>
          <p:cNvPr id="22" name="Group 21">
            <a:extLst>
              <a:ext uri="{FF2B5EF4-FFF2-40B4-BE49-F238E27FC236}">
                <a16:creationId xmlns:a16="http://schemas.microsoft.com/office/drawing/2014/main" id="{5C2CE11E-BD82-BEE9-AA97-FA7B47A167F9}"/>
              </a:ext>
            </a:extLst>
          </p:cNvPr>
          <p:cNvGrpSpPr/>
          <p:nvPr/>
        </p:nvGrpSpPr>
        <p:grpSpPr>
          <a:xfrm>
            <a:off x="6516145" y="1278036"/>
            <a:ext cx="2574409" cy="3412780"/>
            <a:chOff x="2521249" y="1364397"/>
            <a:chExt cx="2291810" cy="3009796"/>
          </a:xfrm>
        </p:grpSpPr>
        <p:pic>
          <p:nvPicPr>
            <p:cNvPr id="21" name="Picture 20">
              <a:extLst>
                <a:ext uri="{FF2B5EF4-FFF2-40B4-BE49-F238E27FC236}">
                  <a16:creationId xmlns:a16="http://schemas.microsoft.com/office/drawing/2014/main" id="{B9FC04E3-9AA9-D2A2-21D5-1C0339329C59}"/>
                </a:ext>
              </a:extLst>
            </p:cNvPr>
            <p:cNvPicPr>
              <a:picLocks noChangeAspect="1"/>
            </p:cNvPicPr>
            <p:nvPr/>
          </p:nvPicPr>
          <p:blipFill>
            <a:blip r:embed="rId3"/>
            <a:stretch>
              <a:fillRect/>
            </a:stretch>
          </p:blipFill>
          <p:spPr>
            <a:xfrm>
              <a:off x="2521249" y="1364397"/>
              <a:ext cx="2291810" cy="3009796"/>
            </a:xfrm>
            <a:prstGeom prst="rect">
              <a:avLst/>
            </a:prstGeom>
          </p:spPr>
        </p:pic>
        <p:pic>
          <p:nvPicPr>
            <p:cNvPr id="19" name="Picture 18">
              <a:extLst>
                <a:ext uri="{FF2B5EF4-FFF2-40B4-BE49-F238E27FC236}">
                  <a16:creationId xmlns:a16="http://schemas.microsoft.com/office/drawing/2014/main" id="{2CDFA49B-39DB-5D77-6687-0F21E4857366}"/>
                </a:ext>
              </a:extLst>
            </p:cNvPr>
            <p:cNvPicPr>
              <a:picLocks noChangeAspect="1"/>
            </p:cNvPicPr>
            <p:nvPr/>
          </p:nvPicPr>
          <p:blipFill>
            <a:blip r:embed="rId4"/>
            <a:stretch>
              <a:fillRect/>
            </a:stretch>
          </p:blipFill>
          <p:spPr>
            <a:xfrm>
              <a:off x="3555759" y="1574010"/>
              <a:ext cx="1076240" cy="1505781"/>
            </a:xfrm>
            <a:prstGeom prst="rect">
              <a:avLst/>
            </a:prstGeom>
            <a:ln w="38100">
              <a:solidFill>
                <a:schemeClr val="bg1"/>
              </a:solidFill>
            </a:ln>
          </p:spPr>
        </p:pic>
      </p:grpSp>
      <p:sp>
        <p:nvSpPr>
          <p:cNvPr id="13" name="TextBox 12">
            <a:extLst>
              <a:ext uri="{FF2B5EF4-FFF2-40B4-BE49-F238E27FC236}">
                <a16:creationId xmlns:a16="http://schemas.microsoft.com/office/drawing/2014/main" id="{ACFABD89-4843-655C-B78C-3E6E21B57F05}"/>
              </a:ext>
            </a:extLst>
          </p:cNvPr>
          <p:cNvSpPr txBox="1"/>
          <p:nvPr/>
        </p:nvSpPr>
        <p:spPr>
          <a:xfrm>
            <a:off x="6028142" y="1364395"/>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2</a:t>
            </a:r>
          </a:p>
        </p:txBody>
      </p:sp>
      <p:pic>
        <p:nvPicPr>
          <p:cNvPr id="25" name="Picture 24">
            <a:extLst>
              <a:ext uri="{FF2B5EF4-FFF2-40B4-BE49-F238E27FC236}">
                <a16:creationId xmlns:a16="http://schemas.microsoft.com/office/drawing/2014/main" id="{5FD7E5E7-6C3F-1AB3-51D2-1EE8BE23242D}"/>
              </a:ext>
            </a:extLst>
          </p:cNvPr>
          <p:cNvPicPr>
            <a:picLocks noChangeAspect="1"/>
          </p:cNvPicPr>
          <p:nvPr/>
        </p:nvPicPr>
        <p:blipFill>
          <a:blip r:embed="rId5"/>
          <a:stretch>
            <a:fillRect/>
          </a:stretch>
        </p:blipFill>
        <p:spPr>
          <a:xfrm>
            <a:off x="3433363" y="1278036"/>
            <a:ext cx="2466169" cy="3412780"/>
          </a:xfrm>
          <a:prstGeom prst="rect">
            <a:avLst/>
          </a:prstGeom>
        </p:spPr>
      </p:pic>
      <p:pic>
        <p:nvPicPr>
          <p:cNvPr id="27" name="Picture 26">
            <a:extLst>
              <a:ext uri="{FF2B5EF4-FFF2-40B4-BE49-F238E27FC236}">
                <a16:creationId xmlns:a16="http://schemas.microsoft.com/office/drawing/2014/main" id="{11445D6F-D20C-E1AD-4DEC-A266054C59B8}"/>
              </a:ext>
            </a:extLst>
          </p:cNvPr>
          <p:cNvPicPr>
            <a:picLocks noChangeAspect="1"/>
          </p:cNvPicPr>
          <p:nvPr/>
        </p:nvPicPr>
        <p:blipFill>
          <a:blip r:embed="rId6"/>
          <a:stretch>
            <a:fillRect/>
          </a:stretch>
        </p:blipFill>
        <p:spPr>
          <a:xfrm>
            <a:off x="511962" y="1278036"/>
            <a:ext cx="2792791" cy="3412780"/>
          </a:xfrm>
          <a:prstGeom prst="rect">
            <a:avLst/>
          </a:prstGeom>
        </p:spPr>
      </p:pic>
      <p:pic>
        <p:nvPicPr>
          <p:cNvPr id="29" name="Picture 28">
            <a:extLst>
              <a:ext uri="{FF2B5EF4-FFF2-40B4-BE49-F238E27FC236}">
                <a16:creationId xmlns:a16="http://schemas.microsoft.com/office/drawing/2014/main" id="{B7EA7EBC-E70C-46E2-A5AA-E24709FF5E47}"/>
              </a:ext>
            </a:extLst>
          </p:cNvPr>
          <p:cNvPicPr>
            <a:picLocks noChangeAspect="1"/>
          </p:cNvPicPr>
          <p:nvPr/>
        </p:nvPicPr>
        <p:blipFill>
          <a:blip r:embed="rId7"/>
          <a:stretch>
            <a:fillRect/>
          </a:stretch>
        </p:blipFill>
        <p:spPr>
          <a:xfrm>
            <a:off x="677586" y="2156933"/>
            <a:ext cx="1328133" cy="1920471"/>
          </a:xfrm>
          <a:prstGeom prst="rect">
            <a:avLst/>
          </a:prstGeom>
          <a:ln w="38100">
            <a:solidFill>
              <a:schemeClr val="bg1"/>
            </a:solidFill>
          </a:ln>
        </p:spPr>
      </p:pic>
      <p:sp>
        <p:nvSpPr>
          <p:cNvPr id="34" name="TextBox 33">
            <a:extLst>
              <a:ext uri="{FF2B5EF4-FFF2-40B4-BE49-F238E27FC236}">
                <a16:creationId xmlns:a16="http://schemas.microsoft.com/office/drawing/2014/main" id="{D7FAF7CF-279B-ECCB-99FA-075B8C0510F0}"/>
              </a:ext>
            </a:extLst>
          </p:cNvPr>
          <p:cNvSpPr txBox="1"/>
          <p:nvPr/>
        </p:nvSpPr>
        <p:spPr>
          <a:xfrm>
            <a:off x="511962" y="4989578"/>
            <a:ext cx="11273638" cy="1323439"/>
          </a:xfrm>
          <a:prstGeom prst="rect">
            <a:avLst/>
          </a:prstGeom>
          <a:noFill/>
        </p:spPr>
        <p:txBody>
          <a:bodyPr wrap="square" rtlCol="0">
            <a:spAutoFit/>
          </a:bodyPr>
          <a:lstStyle/>
          <a:p>
            <a:r>
              <a:rPr lang="en-US" sz="1600">
                <a:solidFill>
                  <a:schemeClr val="bg1"/>
                </a:solidFill>
                <a:latin typeface="Aptos Slab ExtraBold" panose="020F0502020204030204" pitchFamily="34" charset="0"/>
              </a:rPr>
              <a:t>Soil was collected from public gardens along the canal, construction sites,  or tree plots from surrounding blocks. The first sample was taken around a block away from the canal and contained over 50 ppm PCB.</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The second sample was collected at a similar tree plot a couple blocks south of the initial test and contained less than 50 ppm PCB. </a:t>
            </a:r>
          </a:p>
        </p:txBody>
      </p:sp>
      <p:pic>
        <p:nvPicPr>
          <p:cNvPr id="2050" name="Picture 2">
            <a:extLst>
              <a:ext uri="{FF2B5EF4-FFF2-40B4-BE49-F238E27FC236}">
                <a16:creationId xmlns:a16="http://schemas.microsoft.com/office/drawing/2014/main" id="{80B59929-D16C-AD74-82E0-1906C3CBE74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32174" y="1278036"/>
            <a:ext cx="2557245" cy="3410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547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FEA5E-5D53-2C18-FC51-34E87745103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7C88FA1-D880-6032-3A6C-B8FC91C7B2AE}"/>
              </a:ext>
            </a:extLst>
          </p:cNvPr>
          <p:cNvSpPr/>
          <p:nvPr/>
        </p:nvSpPr>
        <p:spPr>
          <a:xfrm>
            <a:off x="0" y="0"/>
            <a:ext cx="12192000" cy="6858000"/>
          </a:xfrm>
          <a:prstGeom prst="rect">
            <a:avLst/>
          </a:prstGeom>
          <a:solidFill>
            <a:srgbClr val="B798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EB37811-5278-5587-8A7F-A0A837DCA7DD}"/>
              </a:ext>
            </a:extLst>
          </p:cNvPr>
          <p:cNvSpPr txBox="1"/>
          <p:nvPr/>
        </p:nvSpPr>
        <p:spPr>
          <a:xfrm>
            <a:off x="190500" y="254000"/>
            <a:ext cx="10807700" cy="830997"/>
          </a:xfrm>
          <a:prstGeom prst="rect">
            <a:avLst/>
          </a:prstGeom>
          <a:noFill/>
        </p:spPr>
        <p:txBody>
          <a:bodyPr wrap="square" rtlCol="0">
            <a:spAutoFit/>
          </a:bodyPr>
          <a:lstStyle/>
          <a:p>
            <a:r>
              <a:rPr lang="en-US" sz="4800">
                <a:solidFill>
                  <a:schemeClr val="bg1"/>
                </a:solidFill>
                <a:latin typeface="Aptos Slab ExtraBold" panose="020F0502020204030204" pitchFamily="34" charset="0"/>
              </a:rPr>
              <a:t>Soil Testing (PCB)</a:t>
            </a:r>
          </a:p>
        </p:txBody>
      </p:sp>
      <p:sp>
        <p:nvSpPr>
          <p:cNvPr id="12" name="TextBox 11">
            <a:extLst>
              <a:ext uri="{FF2B5EF4-FFF2-40B4-BE49-F238E27FC236}">
                <a16:creationId xmlns:a16="http://schemas.microsoft.com/office/drawing/2014/main" id="{1D8770ED-6239-4EA4-2554-3AFC96E45369}"/>
              </a:ext>
            </a:extLst>
          </p:cNvPr>
          <p:cNvSpPr txBox="1"/>
          <p:nvPr/>
        </p:nvSpPr>
        <p:spPr>
          <a:xfrm>
            <a:off x="76284" y="1364397"/>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3</a:t>
            </a:r>
          </a:p>
        </p:txBody>
      </p:sp>
      <p:sp>
        <p:nvSpPr>
          <p:cNvPr id="13" name="TextBox 12">
            <a:extLst>
              <a:ext uri="{FF2B5EF4-FFF2-40B4-BE49-F238E27FC236}">
                <a16:creationId xmlns:a16="http://schemas.microsoft.com/office/drawing/2014/main" id="{FF399ADE-D438-61E3-B13E-C1E6CD27872E}"/>
              </a:ext>
            </a:extLst>
          </p:cNvPr>
          <p:cNvSpPr txBox="1"/>
          <p:nvPr/>
        </p:nvSpPr>
        <p:spPr>
          <a:xfrm>
            <a:off x="5531189" y="1364396"/>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4</a:t>
            </a:r>
          </a:p>
        </p:txBody>
      </p:sp>
      <p:grpSp>
        <p:nvGrpSpPr>
          <p:cNvPr id="26" name="Group 25">
            <a:extLst>
              <a:ext uri="{FF2B5EF4-FFF2-40B4-BE49-F238E27FC236}">
                <a16:creationId xmlns:a16="http://schemas.microsoft.com/office/drawing/2014/main" id="{744DE93F-1F7E-5828-8325-508893304C87}"/>
              </a:ext>
            </a:extLst>
          </p:cNvPr>
          <p:cNvGrpSpPr/>
          <p:nvPr/>
        </p:nvGrpSpPr>
        <p:grpSpPr>
          <a:xfrm>
            <a:off x="6007100" y="1338997"/>
            <a:ext cx="2412482" cy="3412780"/>
            <a:chOff x="6007100" y="1338997"/>
            <a:chExt cx="2211832" cy="3128933"/>
          </a:xfrm>
        </p:grpSpPr>
        <p:pic>
          <p:nvPicPr>
            <p:cNvPr id="7" name="Picture 6">
              <a:extLst>
                <a:ext uri="{FF2B5EF4-FFF2-40B4-BE49-F238E27FC236}">
                  <a16:creationId xmlns:a16="http://schemas.microsoft.com/office/drawing/2014/main" id="{B55A65A3-073B-2A02-8E62-0EC7D554A34B}"/>
                </a:ext>
              </a:extLst>
            </p:cNvPr>
            <p:cNvPicPr>
              <a:picLocks noChangeAspect="1"/>
            </p:cNvPicPr>
            <p:nvPr/>
          </p:nvPicPr>
          <p:blipFill>
            <a:blip r:embed="rId3"/>
            <a:stretch>
              <a:fillRect/>
            </a:stretch>
          </p:blipFill>
          <p:spPr>
            <a:xfrm>
              <a:off x="6007100" y="1338997"/>
              <a:ext cx="2211832" cy="3128933"/>
            </a:xfrm>
            <a:prstGeom prst="rect">
              <a:avLst/>
            </a:prstGeom>
          </p:spPr>
        </p:pic>
        <p:pic>
          <p:nvPicPr>
            <p:cNvPr id="9" name="Picture 8">
              <a:extLst>
                <a:ext uri="{FF2B5EF4-FFF2-40B4-BE49-F238E27FC236}">
                  <a16:creationId xmlns:a16="http://schemas.microsoft.com/office/drawing/2014/main" id="{25C5FEED-2A8C-CABD-A22D-9848D27625A2}"/>
                </a:ext>
              </a:extLst>
            </p:cNvPr>
            <p:cNvPicPr>
              <a:picLocks noChangeAspect="1"/>
            </p:cNvPicPr>
            <p:nvPr/>
          </p:nvPicPr>
          <p:blipFill>
            <a:blip r:embed="rId4"/>
            <a:stretch>
              <a:fillRect/>
            </a:stretch>
          </p:blipFill>
          <p:spPr>
            <a:xfrm>
              <a:off x="6155936" y="1562878"/>
              <a:ext cx="1338213" cy="1254155"/>
            </a:xfrm>
            <a:prstGeom prst="rect">
              <a:avLst/>
            </a:prstGeom>
            <a:ln w="38100">
              <a:solidFill>
                <a:schemeClr val="bg1"/>
              </a:solidFill>
            </a:ln>
          </p:spPr>
        </p:pic>
      </p:grpSp>
      <p:grpSp>
        <p:nvGrpSpPr>
          <p:cNvPr id="20" name="Group 19">
            <a:extLst>
              <a:ext uri="{FF2B5EF4-FFF2-40B4-BE49-F238E27FC236}">
                <a16:creationId xmlns:a16="http://schemas.microsoft.com/office/drawing/2014/main" id="{743F1D99-9211-0389-6039-65647868DB8E}"/>
              </a:ext>
            </a:extLst>
          </p:cNvPr>
          <p:cNvGrpSpPr/>
          <p:nvPr/>
        </p:nvGrpSpPr>
        <p:grpSpPr>
          <a:xfrm>
            <a:off x="610865" y="1338997"/>
            <a:ext cx="2392685" cy="3412780"/>
            <a:chOff x="602619" y="1252567"/>
            <a:chExt cx="2193681" cy="3128933"/>
          </a:xfrm>
        </p:grpSpPr>
        <p:pic>
          <p:nvPicPr>
            <p:cNvPr id="23" name="Picture 22">
              <a:extLst>
                <a:ext uri="{FF2B5EF4-FFF2-40B4-BE49-F238E27FC236}">
                  <a16:creationId xmlns:a16="http://schemas.microsoft.com/office/drawing/2014/main" id="{4F19E21A-F933-31DD-7424-763328CDF5B5}"/>
                </a:ext>
              </a:extLst>
            </p:cNvPr>
            <p:cNvPicPr>
              <a:picLocks noChangeAspect="1"/>
            </p:cNvPicPr>
            <p:nvPr/>
          </p:nvPicPr>
          <p:blipFill>
            <a:blip r:embed="rId5"/>
            <a:stretch>
              <a:fillRect/>
            </a:stretch>
          </p:blipFill>
          <p:spPr>
            <a:xfrm>
              <a:off x="602619" y="1252567"/>
              <a:ext cx="2193681" cy="3128933"/>
            </a:xfrm>
            <a:prstGeom prst="rect">
              <a:avLst/>
            </a:prstGeom>
          </p:spPr>
        </p:pic>
        <p:pic>
          <p:nvPicPr>
            <p:cNvPr id="24" name="Picture 23">
              <a:extLst>
                <a:ext uri="{FF2B5EF4-FFF2-40B4-BE49-F238E27FC236}">
                  <a16:creationId xmlns:a16="http://schemas.microsoft.com/office/drawing/2014/main" id="{C7E3192A-D20F-9AB7-55E4-AF1646CC051F}"/>
                </a:ext>
              </a:extLst>
            </p:cNvPr>
            <p:cNvPicPr>
              <a:picLocks noChangeAspect="1"/>
            </p:cNvPicPr>
            <p:nvPr/>
          </p:nvPicPr>
          <p:blipFill>
            <a:blip r:embed="rId6"/>
            <a:stretch>
              <a:fillRect/>
            </a:stretch>
          </p:blipFill>
          <p:spPr>
            <a:xfrm>
              <a:off x="710042" y="3078662"/>
              <a:ext cx="989417" cy="1111066"/>
            </a:xfrm>
            <a:prstGeom prst="rect">
              <a:avLst/>
            </a:prstGeom>
            <a:ln w="38100">
              <a:solidFill>
                <a:schemeClr val="bg1"/>
              </a:solidFill>
            </a:ln>
          </p:spPr>
        </p:pic>
      </p:grpSp>
      <p:sp>
        <p:nvSpPr>
          <p:cNvPr id="30" name="TextBox 29">
            <a:extLst>
              <a:ext uri="{FF2B5EF4-FFF2-40B4-BE49-F238E27FC236}">
                <a16:creationId xmlns:a16="http://schemas.microsoft.com/office/drawing/2014/main" id="{BB8FFD7D-A2BF-A719-95A1-CF04CDEC8A8D}"/>
              </a:ext>
            </a:extLst>
          </p:cNvPr>
          <p:cNvSpPr txBox="1"/>
          <p:nvPr/>
        </p:nvSpPr>
        <p:spPr>
          <a:xfrm>
            <a:off x="610864" y="5359720"/>
            <a:ext cx="11083295" cy="584775"/>
          </a:xfrm>
          <a:prstGeom prst="rect">
            <a:avLst/>
          </a:prstGeom>
          <a:noFill/>
        </p:spPr>
        <p:txBody>
          <a:bodyPr wrap="square" rtlCol="0">
            <a:spAutoFit/>
          </a:bodyPr>
          <a:lstStyle/>
          <a:p>
            <a:r>
              <a:rPr lang="en-US" sz="1600">
                <a:solidFill>
                  <a:schemeClr val="bg1"/>
                </a:solidFill>
                <a:latin typeface="Aptos Slab ExtraBold" panose="020F0502020204030204" pitchFamily="34" charset="0"/>
              </a:rPr>
              <a:t>The 3</a:t>
            </a:r>
            <a:r>
              <a:rPr lang="en-US" sz="1600" baseline="30000">
                <a:solidFill>
                  <a:schemeClr val="bg1"/>
                </a:solidFill>
                <a:latin typeface="Aptos Slab ExtraBold" panose="020F0502020204030204" pitchFamily="34" charset="0"/>
              </a:rPr>
              <a:t>rd</a:t>
            </a:r>
            <a:r>
              <a:rPr lang="en-US" sz="1600">
                <a:solidFill>
                  <a:schemeClr val="bg1"/>
                </a:solidFill>
                <a:latin typeface="Aptos Slab ExtraBold" panose="020F0502020204030204" pitchFamily="34" charset="0"/>
              </a:rPr>
              <a:t> and 4</a:t>
            </a:r>
            <a:r>
              <a:rPr lang="en-US" sz="1600" baseline="30000">
                <a:solidFill>
                  <a:schemeClr val="bg1"/>
                </a:solidFill>
                <a:latin typeface="Aptos Slab ExtraBold" panose="020F0502020204030204" pitchFamily="34" charset="0"/>
              </a:rPr>
              <a:t>th</a:t>
            </a:r>
            <a:r>
              <a:rPr lang="en-US" sz="1600">
                <a:solidFill>
                  <a:schemeClr val="bg1"/>
                </a:solidFill>
                <a:latin typeface="Aptos Slab ExtraBold" panose="020F0502020204030204" pitchFamily="34" charset="0"/>
              </a:rPr>
              <a:t> sample were taken at two different public gardens along the canal and both contained less than 50 ppm PCB.</a:t>
            </a:r>
          </a:p>
        </p:txBody>
      </p:sp>
      <p:pic>
        <p:nvPicPr>
          <p:cNvPr id="2" name="Picture 1" descr="A hand holding a test tube with purple liquid&#10;&#10;AI-generated content may be incorrect.">
            <a:extLst>
              <a:ext uri="{FF2B5EF4-FFF2-40B4-BE49-F238E27FC236}">
                <a16:creationId xmlns:a16="http://schemas.microsoft.com/office/drawing/2014/main" id="{12772705-422E-F258-A864-45E92DC04875}"/>
              </a:ext>
            </a:extLst>
          </p:cNvPr>
          <p:cNvPicPr>
            <a:picLocks noChangeAspect="1"/>
          </p:cNvPicPr>
          <p:nvPr/>
        </p:nvPicPr>
        <p:blipFill>
          <a:blip r:embed="rId7"/>
          <a:srcRect l="7668" r="15476"/>
          <a:stretch>
            <a:fillRect/>
          </a:stretch>
        </p:blipFill>
        <p:spPr>
          <a:xfrm>
            <a:off x="3183591" y="1363014"/>
            <a:ext cx="1939677" cy="3406918"/>
          </a:xfrm>
          <a:prstGeom prst="rect">
            <a:avLst/>
          </a:prstGeom>
        </p:spPr>
      </p:pic>
      <p:pic>
        <p:nvPicPr>
          <p:cNvPr id="1026" name="Picture 2">
            <a:extLst>
              <a:ext uri="{FF2B5EF4-FFF2-40B4-BE49-F238E27FC236}">
                <a16:creationId xmlns:a16="http://schemas.microsoft.com/office/drawing/2014/main" id="{F9E5D630-117B-BB4E-4EEB-B2845DA090F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1812" r="11274"/>
          <a:stretch>
            <a:fillRect/>
          </a:stretch>
        </p:blipFill>
        <p:spPr bwMode="auto">
          <a:xfrm>
            <a:off x="8592080" y="1341065"/>
            <a:ext cx="1966907" cy="3410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976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3B1D3-D363-822F-B628-9291DBF5B91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CB59D6B-2B54-8B1C-7FCB-8405977B22B4}"/>
              </a:ext>
            </a:extLst>
          </p:cNvPr>
          <p:cNvSpPr/>
          <p:nvPr/>
        </p:nvSpPr>
        <p:spPr>
          <a:xfrm>
            <a:off x="0" y="0"/>
            <a:ext cx="12192000" cy="6858000"/>
          </a:xfrm>
          <a:prstGeom prst="rect">
            <a:avLst/>
          </a:prstGeom>
          <a:solidFill>
            <a:srgbClr val="C5B3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3E5B6BD-605F-8E5E-5E7F-798813031A79}"/>
              </a:ext>
            </a:extLst>
          </p:cNvPr>
          <p:cNvSpPr txBox="1"/>
          <p:nvPr/>
        </p:nvSpPr>
        <p:spPr>
          <a:xfrm>
            <a:off x="190500" y="254000"/>
            <a:ext cx="10807700" cy="830997"/>
          </a:xfrm>
          <a:prstGeom prst="rect">
            <a:avLst/>
          </a:prstGeom>
          <a:noFill/>
        </p:spPr>
        <p:txBody>
          <a:bodyPr wrap="square" rtlCol="0">
            <a:spAutoFit/>
          </a:bodyPr>
          <a:lstStyle/>
          <a:p>
            <a:r>
              <a:rPr lang="en-US" sz="4800">
                <a:solidFill>
                  <a:schemeClr val="bg1"/>
                </a:solidFill>
                <a:latin typeface="Aptos Slab ExtraBold" panose="020F0502020204030204" pitchFamily="34" charset="0"/>
              </a:rPr>
              <a:t>Soil Testing (PCB)</a:t>
            </a:r>
          </a:p>
        </p:txBody>
      </p:sp>
      <p:sp>
        <p:nvSpPr>
          <p:cNvPr id="12" name="TextBox 11">
            <a:extLst>
              <a:ext uri="{FF2B5EF4-FFF2-40B4-BE49-F238E27FC236}">
                <a16:creationId xmlns:a16="http://schemas.microsoft.com/office/drawing/2014/main" id="{F31242F4-DC65-700C-F00C-0AE2748305E0}"/>
              </a:ext>
            </a:extLst>
          </p:cNvPr>
          <p:cNvSpPr txBox="1"/>
          <p:nvPr/>
        </p:nvSpPr>
        <p:spPr>
          <a:xfrm>
            <a:off x="76284" y="1364397"/>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5</a:t>
            </a:r>
          </a:p>
        </p:txBody>
      </p:sp>
      <p:sp>
        <p:nvSpPr>
          <p:cNvPr id="13" name="TextBox 12">
            <a:extLst>
              <a:ext uri="{FF2B5EF4-FFF2-40B4-BE49-F238E27FC236}">
                <a16:creationId xmlns:a16="http://schemas.microsoft.com/office/drawing/2014/main" id="{F33C6F53-0AEA-1978-A2CC-4EB3229F10BF}"/>
              </a:ext>
            </a:extLst>
          </p:cNvPr>
          <p:cNvSpPr txBox="1"/>
          <p:nvPr/>
        </p:nvSpPr>
        <p:spPr>
          <a:xfrm>
            <a:off x="5772489" y="1364396"/>
            <a:ext cx="359394" cy="461665"/>
          </a:xfrm>
          <a:prstGeom prst="rect">
            <a:avLst/>
          </a:prstGeom>
          <a:solidFill>
            <a:schemeClr val="bg1"/>
          </a:solidFill>
        </p:spPr>
        <p:txBody>
          <a:bodyPr wrap="none" rtlCol="0">
            <a:spAutoFit/>
          </a:bodyPr>
          <a:lstStyle/>
          <a:p>
            <a:r>
              <a:rPr lang="en-US" sz="2400">
                <a:solidFill>
                  <a:srgbClr val="FF0000"/>
                </a:solidFill>
                <a:latin typeface="Aptos Slab ExtraBold" panose="020B0004020202020204" pitchFamily="34" charset="0"/>
              </a:rPr>
              <a:t>6</a:t>
            </a:r>
          </a:p>
        </p:txBody>
      </p:sp>
      <p:grpSp>
        <p:nvGrpSpPr>
          <p:cNvPr id="29" name="Group 28">
            <a:extLst>
              <a:ext uri="{FF2B5EF4-FFF2-40B4-BE49-F238E27FC236}">
                <a16:creationId xmlns:a16="http://schemas.microsoft.com/office/drawing/2014/main" id="{CBF393C1-EFA9-77BA-48EA-69B2A2E11906}"/>
              </a:ext>
            </a:extLst>
          </p:cNvPr>
          <p:cNvGrpSpPr/>
          <p:nvPr/>
        </p:nvGrpSpPr>
        <p:grpSpPr>
          <a:xfrm>
            <a:off x="616774" y="1364396"/>
            <a:ext cx="2589043" cy="3425585"/>
            <a:chOff x="616775" y="1364396"/>
            <a:chExt cx="2366658" cy="3131345"/>
          </a:xfrm>
        </p:grpSpPr>
        <p:pic>
          <p:nvPicPr>
            <p:cNvPr id="4" name="Picture 3">
              <a:extLst>
                <a:ext uri="{FF2B5EF4-FFF2-40B4-BE49-F238E27FC236}">
                  <a16:creationId xmlns:a16="http://schemas.microsoft.com/office/drawing/2014/main" id="{896CC5FD-2B9E-D479-519B-173C1E9A404B}"/>
                </a:ext>
              </a:extLst>
            </p:cNvPr>
            <p:cNvPicPr>
              <a:picLocks noChangeAspect="1"/>
            </p:cNvPicPr>
            <p:nvPr/>
          </p:nvPicPr>
          <p:blipFill>
            <a:blip r:embed="rId3"/>
            <a:stretch>
              <a:fillRect/>
            </a:stretch>
          </p:blipFill>
          <p:spPr>
            <a:xfrm>
              <a:off x="616775" y="1364396"/>
              <a:ext cx="2366658" cy="3131345"/>
            </a:xfrm>
            <a:prstGeom prst="rect">
              <a:avLst/>
            </a:prstGeom>
          </p:spPr>
        </p:pic>
        <p:pic>
          <p:nvPicPr>
            <p:cNvPr id="8" name="Picture 7">
              <a:extLst>
                <a:ext uri="{FF2B5EF4-FFF2-40B4-BE49-F238E27FC236}">
                  <a16:creationId xmlns:a16="http://schemas.microsoft.com/office/drawing/2014/main" id="{9E5C8170-E121-8B90-205C-9FA26E412CA7}"/>
                </a:ext>
              </a:extLst>
            </p:cNvPr>
            <p:cNvPicPr>
              <a:picLocks noChangeAspect="1"/>
            </p:cNvPicPr>
            <p:nvPr/>
          </p:nvPicPr>
          <p:blipFill>
            <a:blip r:embed="rId4"/>
            <a:stretch>
              <a:fillRect/>
            </a:stretch>
          </p:blipFill>
          <p:spPr>
            <a:xfrm>
              <a:off x="1817440" y="1544429"/>
              <a:ext cx="975085" cy="1249572"/>
            </a:xfrm>
            <a:prstGeom prst="rect">
              <a:avLst/>
            </a:prstGeom>
            <a:ln w="38100">
              <a:solidFill>
                <a:schemeClr val="bg1"/>
              </a:solidFill>
            </a:ln>
          </p:spPr>
        </p:pic>
      </p:grpSp>
      <p:grpSp>
        <p:nvGrpSpPr>
          <p:cNvPr id="30" name="Group 29">
            <a:extLst>
              <a:ext uri="{FF2B5EF4-FFF2-40B4-BE49-F238E27FC236}">
                <a16:creationId xmlns:a16="http://schemas.microsoft.com/office/drawing/2014/main" id="{15BB59B3-CE59-63FB-A39D-44DE8B4162BF}"/>
              </a:ext>
            </a:extLst>
          </p:cNvPr>
          <p:cNvGrpSpPr/>
          <p:nvPr/>
        </p:nvGrpSpPr>
        <p:grpSpPr>
          <a:xfrm>
            <a:off x="6337300" y="1377201"/>
            <a:ext cx="2588413" cy="3410744"/>
            <a:chOff x="6096000" y="1377201"/>
            <a:chExt cx="2366659" cy="3118540"/>
          </a:xfrm>
        </p:grpSpPr>
        <p:pic>
          <p:nvPicPr>
            <p:cNvPr id="19" name="Picture 18">
              <a:extLst>
                <a:ext uri="{FF2B5EF4-FFF2-40B4-BE49-F238E27FC236}">
                  <a16:creationId xmlns:a16="http://schemas.microsoft.com/office/drawing/2014/main" id="{4BAD55E1-8842-7759-56C3-227BCCACF4C8}"/>
                </a:ext>
              </a:extLst>
            </p:cNvPr>
            <p:cNvPicPr>
              <a:picLocks noChangeAspect="1"/>
            </p:cNvPicPr>
            <p:nvPr/>
          </p:nvPicPr>
          <p:blipFill>
            <a:blip r:embed="rId5"/>
            <a:stretch>
              <a:fillRect/>
            </a:stretch>
          </p:blipFill>
          <p:spPr>
            <a:xfrm>
              <a:off x="6096000" y="1377201"/>
              <a:ext cx="2366659" cy="3118540"/>
            </a:xfrm>
            <a:prstGeom prst="rect">
              <a:avLst/>
            </a:prstGeom>
          </p:spPr>
        </p:pic>
        <p:pic>
          <p:nvPicPr>
            <p:cNvPr id="21" name="Picture 20">
              <a:extLst>
                <a:ext uri="{FF2B5EF4-FFF2-40B4-BE49-F238E27FC236}">
                  <a16:creationId xmlns:a16="http://schemas.microsoft.com/office/drawing/2014/main" id="{0046F324-AED4-0946-E958-D7B0C375199D}"/>
                </a:ext>
              </a:extLst>
            </p:cNvPr>
            <p:cNvPicPr>
              <a:picLocks noChangeAspect="1"/>
            </p:cNvPicPr>
            <p:nvPr/>
          </p:nvPicPr>
          <p:blipFill>
            <a:blip r:embed="rId6"/>
            <a:stretch>
              <a:fillRect/>
            </a:stretch>
          </p:blipFill>
          <p:spPr>
            <a:xfrm>
              <a:off x="6947213" y="1595229"/>
              <a:ext cx="1336747" cy="1351172"/>
            </a:xfrm>
            <a:prstGeom prst="rect">
              <a:avLst/>
            </a:prstGeom>
            <a:ln w="38100">
              <a:solidFill>
                <a:schemeClr val="bg1"/>
              </a:solidFill>
            </a:ln>
          </p:spPr>
        </p:pic>
      </p:grpSp>
      <p:pic>
        <p:nvPicPr>
          <p:cNvPr id="23" name="Picture 22">
            <a:extLst>
              <a:ext uri="{FF2B5EF4-FFF2-40B4-BE49-F238E27FC236}">
                <a16:creationId xmlns:a16="http://schemas.microsoft.com/office/drawing/2014/main" id="{894CB5DF-2A8F-BFBA-D38F-2DA9B086ADA7}"/>
              </a:ext>
            </a:extLst>
          </p:cNvPr>
          <p:cNvPicPr>
            <a:picLocks noChangeAspect="1"/>
          </p:cNvPicPr>
          <p:nvPr/>
        </p:nvPicPr>
        <p:blipFill>
          <a:blip r:embed="rId7"/>
          <a:stretch>
            <a:fillRect/>
          </a:stretch>
        </p:blipFill>
        <p:spPr>
          <a:xfrm>
            <a:off x="3373552" y="1377202"/>
            <a:ext cx="2203744" cy="3412780"/>
          </a:xfrm>
          <a:prstGeom prst="rect">
            <a:avLst/>
          </a:prstGeom>
        </p:spPr>
      </p:pic>
      <p:pic>
        <p:nvPicPr>
          <p:cNvPr id="25" name="Picture 24">
            <a:extLst>
              <a:ext uri="{FF2B5EF4-FFF2-40B4-BE49-F238E27FC236}">
                <a16:creationId xmlns:a16="http://schemas.microsoft.com/office/drawing/2014/main" id="{76FC6365-E7A5-36EC-6E44-6746563F936F}"/>
              </a:ext>
            </a:extLst>
          </p:cNvPr>
          <p:cNvPicPr>
            <a:picLocks noChangeAspect="1"/>
          </p:cNvPicPr>
          <p:nvPr/>
        </p:nvPicPr>
        <p:blipFill>
          <a:blip r:embed="rId8"/>
          <a:stretch>
            <a:fillRect/>
          </a:stretch>
        </p:blipFill>
        <p:spPr>
          <a:xfrm>
            <a:off x="9131130" y="1386408"/>
            <a:ext cx="2665850" cy="3414049"/>
          </a:xfrm>
          <a:prstGeom prst="rect">
            <a:avLst/>
          </a:prstGeom>
        </p:spPr>
      </p:pic>
      <p:sp>
        <p:nvSpPr>
          <p:cNvPr id="31" name="TextBox 30">
            <a:extLst>
              <a:ext uri="{FF2B5EF4-FFF2-40B4-BE49-F238E27FC236}">
                <a16:creationId xmlns:a16="http://schemas.microsoft.com/office/drawing/2014/main" id="{70BFA2F6-659E-71CB-A75A-E744DFEB222F}"/>
              </a:ext>
            </a:extLst>
          </p:cNvPr>
          <p:cNvSpPr txBox="1"/>
          <p:nvPr/>
        </p:nvSpPr>
        <p:spPr>
          <a:xfrm>
            <a:off x="190500" y="4997407"/>
            <a:ext cx="11857121" cy="1569660"/>
          </a:xfrm>
          <a:prstGeom prst="rect">
            <a:avLst/>
          </a:prstGeom>
          <a:noFill/>
        </p:spPr>
        <p:txBody>
          <a:bodyPr wrap="square" rtlCol="0">
            <a:spAutoFit/>
          </a:bodyPr>
          <a:lstStyle/>
          <a:p>
            <a:r>
              <a:rPr lang="en-US" sz="1600">
                <a:solidFill>
                  <a:schemeClr val="bg1"/>
                </a:solidFill>
                <a:latin typeface="Aptos Slab ExtraBold" panose="020F0502020204030204" pitchFamily="34" charset="0"/>
              </a:rPr>
              <a:t>The 5</a:t>
            </a:r>
            <a:r>
              <a:rPr lang="en-US" sz="1600" baseline="30000">
                <a:solidFill>
                  <a:schemeClr val="bg1"/>
                </a:solidFill>
                <a:latin typeface="Aptos Slab ExtraBold" panose="020F0502020204030204" pitchFamily="34" charset="0"/>
              </a:rPr>
              <a:t>th</a:t>
            </a:r>
            <a:r>
              <a:rPr lang="en-US" sz="1600">
                <a:solidFill>
                  <a:schemeClr val="bg1"/>
                </a:solidFill>
                <a:latin typeface="Aptos Slab ExtraBold" panose="020F0502020204030204" pitchFamily="34" charset="0"/>
              </a:rPr>
              <a:t> sample was taken out of a rain garden overseen by the Gowanus Conservatory and  contained over 50ppm PCB. The 6</a:t>
            </a:r>
            <a:r>
              <a:rPr lang="en-US" sz="1600" baseline="30000">
                <a:solidFill>
                  <a:schemeClr val="bg1"/>
                </a:solidFill>
                <a:latin typeface="Aptos Slab ExtraBold" panose="020F0502020204030204" pitchFamily="34" charset="0"/>
              </a:rPr>
              <a:t>th</a:t>
            </a:r>
            <a:r>
              <a:rPr lang="en-US" sz="1600">
                <a:solidFill>
                  <a:schemeClr val="bg1"/>
                </a:solidFill>
                <a:latin typeface="Aptos Slab ExtraBold" panose="020F0502020204030204" pitchFamily="34" charset="0"/>
              </a:rPr>
              <a:t> and final sample was taken from a construction site, which had a negligible amount of PCB in the soil. </a:t>
            </a:r>
          </a:p>
          <a:p>
            <a:endParaRPr lang="en-US" sz="1600">
              <a:solidFill>
                <a:schemeClr val="bg1"/>
              </a:solidFill>
              <a:latin typeface="Aptos Slab ExtraBold" panose="020F0502020204030204" pitchFamily="34" charset="0"/>
            </a:endParaRPr>
          </a:p>
          <a:p>
            <a:r>
              <a:rPr lang="en-US" sz="1600">
                <a:solidFill>
                  <a:schemeClr val="bg1"/>
                </a:solidFill>
                <a:latin typeface="Aptos Slab ExtraBold" panose="020F0502020204030204" pitchFamily="34" charset="0"/>
              </a:rPr>
              <a:t>The current remediation process for new buildings require that </a:t>
            </a:r>
            <a:r>
              <a:rPr lang="en-US" sz="1600" u="sng">
                <a:solidFill>
                  <a:schemeClr val="bg1"/>
                </a:solidFill>
                <a:latin typeface="Aptos Slab ExtraBold" panose="020F0502020204030204" pitchFamily="34" charset="0"/>
              </a:rPr>
              <a:t>land is treated before any construction</a:t>
            </a:r>
            <a:r>
              <a:rPr lang="en-US" sz="1600">
                <a:solidFill>
                  <a:schemeClr val="bg1"/>
                </a:solidFill>
                <a:latin typeface="Aptos Slab ExtraBold" panose="020F0502020204030204" pitchFamily="34" charset="0"/>
              </a:rPr>
              <a:t>, and the amount of  contamination removal required depends on the type of building.  Which is most likely the reason for the low PCB content. This could mean that </a:t>
            </a:r>
            <a:r>
              <a:rPr lang="en-US" sz="1600" u="sng">
                <a:solidFill>
                  <a:schemeClr val="bg1"/>
                </a:solidFill>
                <a:latin typeface="Aptos Slab ExtraBold" panose="020F0502020204030204" pitchFamily="34" charset="0"/>
              </a:rPr>
              <a:t>land not being used commercially/residentially has not been treated</a:t>
            </a:r>
            <a:r>
              <a:rPr lang="en-US" sz="1600">
                <a:solidFill>
                  <a:schemeClr val="bg1"/>
                </a:solidFill>
                <a:latin typeface="Aptos Slab ExtraBold" panose="020F0502020204030204" pitchFamily="34" charset="0"/>
              </a:rPr>
              <a:t>.</a:t>
            </a:r>
          </a:p>
        </p:txBody>
      </p:sp>
    </p:spTree>
    <p:extLst>
      <p:ext uri="{BB962C8B-B14F-4D97-AF65-F5344CB8AC3E}">
        <p14:creationId xmlns:p14="http://schemas.microsoft.com/office/powerpoint/2010/main" val="258558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EF843-7BC0-862D-91A1-1B971D9ACB0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443CD25-DC88-6907-7700-117998354E01}"/>
              </a:ext>
            </a:extLst>
          </p:cNvPr>
          <p:cNvSpPr/>
          <p:nvPr/>
        </p:nvSpPr>
        <p:spPr>
          <a:xfrm>
            <a:off x="0" y="0"/>
            <a:ext cx="12192000" cy="6858000"/>
          </a:xfrm>
          <a:prstGeom prst="rect">
            <a:avLst/>
          </a:prstGeom>
          <a:solidFill>
            <a:srgbClr val="1C82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2" name="Picture 6">
            <a:extLst>
              <a:ext uri="{FF2B5EF4-FFF2-40B4-BE49-F238E27FC236}">
                <a16:creationId xmlns:a16="http://schemas.microsoft.com/office/drawing/2014/main" id="{B116BF35-D697-70E9-F843-F25D08457A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749" y="1092200"/>
            <a:ext cx="6611921" cy="495808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FFA7553-22CF-EC51-89B5-812D13416CAB}"/>
              </a:ext>
            </a:extLst>
          </p:cNvPr>
          <p:cNvSpPr txBox="1"/>
          <p:nvPr/>
        </p:nvSpPr>
        <p:spPr>
          <a:xfrm>
            <a:off x="248463" y="351118"/>
            <a:ext cx="5152373" cy="830997"/>
          </a:xfrm>
          <a:prstGeom prst="rect">
            <a:avLst/>
          </a:prstGeom>
          <a:noFill/>
        </p:spPr>
        <p:txBody>
          <a:bodyPr wrap="none" rtlCol="0">
            <a:spAutoFit/>
          </a:bodyPr>
          <a:lstStyle/>
          <a:p>
            <a:r>
              <a:rPr lang="en-US" sz="4800">
                <a:solidFill>
                  <a:schemeClr val="bg1"/>
                </a:solidFill>
                <a:latin typeface="Aptos Slab ExtraBold" panose="020F0502020204030204" pitchFamily="34" charset="0"/>
              </a:rPr>
              <a:t>Gaps in Coverage</a:t>
            </a:r>
          </a:p>
        </p:txBody>
      </p:sp>
      <p:sp>
        <p:nvSpPr>
          <p:cNvPr id="6" name="TextBox 5">
            <a:extLst>
              <a:ext uri="{FF2B5EF4-FFF2-40B4-BE49-F238E27FC236}">
                <a16:creationId xmlns:a16="http://schemas.microsoft.com/office/drawing/2014/main" id="{C2F7A65B-AED6-2FB0-28F6-314E56F02895}"/>
              </a:ext>
            </a:extLst>
          </p:cNvPr>
          <p:cNvSpPr txBox="1"/>
          <p:nvPr/>
        </p:nvSpPr>
        <p:spPr>
          <a:xfrm>
            <a:off x="1130795" y="6161752"/>
            <a:ext cx="10019649" cy="584775"/>
          </a:xfrm>
          <a:prstGeom prst="rect">
            <a:avLst/>
          </a:prstGeom>
          <a:noFill/>
        </p:spPr>
        <p:txBody>
          <a:bodyPr wrap="square" rtlCol="0">
            <a:spAutoFit/>
          </a:bodyPr>
          <a:lstStyle/>
          <a:p>
            <a:r>
              <a:rPr lang="en-US" sz="1600">
                <a:solidFill>
                  <a:schemeClr val="bg1"/>
                </a:solidFill>
                <a:latin typeface="Aptos Slab ExtraBold" panose="020B0004020202020204" pitchFamily="34" charset="0"/>
              </a:rPr>
              <a:t>Walking along the Gowanus Canal, we could see that much effort has been made into beautifying the surrounding area and turning the area into a public space.</a:t>
            </a:r>
            <a:endParaRPr lang="en-US" sz="1400">
              <a:solidFill>
                <a:schemeClr val="bg1"/>
              </a:solidFill>
              <a:latin typeface="Aptos Slab ExtraBold" panose="020B0004020202020204" pitchFamily="34" charset="0"/>
            </a:endParaRPr>
          </a:p>
        </p:txBody>
      </p:sp>
      <p:sp>
        <p:nvSpPr>
          <p:cNvPr id="7" name="TextBox 6">
            <a:extLst>
              <a:ext uri="{FF2B5EF4-FFF2-40B4-BE49-F238E27FC236}">
                <a16:creationId xmlns:a16="http://schemas.microsoft.com/office/drawing/2014/main" id="{E6847059-7AA9-B989-825F-062FC5D4B026}"/>
              </a:ext>
            </a:extLst>
          </p:cNvPr>
          <p:cNvSpPr txBox="1"/>
          <p:nvPr/>
        </p:nvSpPr>
        <p:spPr>
          <a:xfrm>
            <a:off x="406401" y="5613112"/>
            <a:ext cx="11572240" cy="1169551"/>
          </a:xfrm>
          <a:prstGeom prst="rect">
            <a:avLst/>
          </a:prstGeom>
          <a:noFill/>
        </p:spPr>
        <p:txBody>
          <a:bodyPr wrap="square" rtlCol="0">
            <a:spAutoFit/>
          </a:bodyPr>
          <a:lstStyle/>
          <a:p>
            <a:r>
              <a:rPr lang="en-US" sz="1400">
                <a:solidFill>
                  <a:schemeClr val="bg1"/>
                </a:solidFill>
                <a:latin typeface="Aptos Slab ExtraBold" panose="020B0004020202020204" pitchFamily="34" charset="0"/>
              </a:rPr>
              <a:t>We noticed many signs along the walkway discussing the history of the Gowanus Canal and the local native wildlife. However, we noticed that there were minimal signage that went into detail about what chemicals are present in the area and risks of exposure. Given that this is a public space that is clearly intended for the community to enjoy, the ongoing construction that is disrupting the soil and potentially exposing pollutants, and the fact that 2 out of the 6 soil samples we collected from the area had significant levels of PCBs, we thought that this was a major gap in coverage.</a:t>
            </a:r>
          </a:p>
        </p:txBody>
      </p:sp>
      <p:pic>
        <p:nvPicPr>
          <p:cNvPr id="4104" name="Picture 8">
            <a:extLst>
              <a:ext uri="{FF2B5EF4-FFF2-40B4-BE49-F238E27FC236}">
                <a16:creationId xmlns:a16="http://schemas.microsoft.com/office/drawing/2014/main" id="{2837827C-E6D8-701B-119F-969E840670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98" t="12455" r="982" b="15926"/>
          <a:stretch>
            <a:fillRect/>
          </a:stretch>
        </p:blipFill>
        <p:spPr bwMode="auto">
          <a:xfrm>
            <a:off x="3713561" y="1120866"/>
            <a:ext cx="4978400" cy="491163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7F554F75-7833-6EC8-BA08-51C743C72BD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0684" b="22000"/>
          <a:stretch>
            <a:fillRect/>
          </a:stretch>
        </p:blipFill>
        <p:spPr bwMode="auto">
          <a:xfrm>
            <a:off x="2286000" y="1505457"/>
            <a:ext cx="7620000" cy="3847085"/>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8A12B50C-ABED-F3AA-1CE5-89F905E00E1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6144" b="21268"/>
          <a:stretch>
            <a:fillRect/>
          </a:stretch>
        </p:blipFill>
        <p:spPr bwMode="auto">
          <a:xfrm>
            <a:off x="3569662" y="1189006"/>
            <a:ext cx="5141913" cy="429231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7486C4B-3A91-E81A-A6EB-F1C1CCF06B5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5222" b="22188"/>
          <a:stretch>
            <a:fillRect/>
          </a:stretch>
        </p:blipFill>
        <p:spPr bwMode="auto">
          <a:xfrm>
            <a:off x="3525043" y="1300478"/>
            <a:ext cx="5141913" cy="4292313"/>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a:extLst>
              <a:ext uri="{FF2B5EF4-FFF2-40B4-BE49-F238E27FC236}">
                <a16:creationId xmlns:a16="http://schemas.microsoft.com/office/drawing/2014/main" id="{18A449D8-162C-27E0-F575-AE06FAB1392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29630" b="8819"/>
          <a:stretch>
            <a:fillRect/>
          </a:stretch>
        </p:blipFill>
        <p:spPr bwMode="auto">
          <a:xfrm>
            <a:off x="3334231" y="1371598"/>
            <a:ext cx="5143500" cy="4221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6272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102"/>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4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4104"/>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9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4098"/>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410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4106"/>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410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4100"/>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4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04a83ad-ae26-4a15-861e-76ace231eac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24D3E6A17C4EB42BF84C73DEB4DE165" ma:contentTypeVersion="18" ma:contentTypeDescription="Create a new document." ma:contentTypeScope="" ma:versionID="a5afd70a96b5ddfd14879f158e9c74c8">
  <xsd:schema xmlns:xsd="http://www.w3.org/2001/XMLSchema" xmlns:xs="http://www.w3.org/2001/XMLSchema" xmlns:p="http://schemas.microsoft.com/office/2006/metadata/properties" xmlns:ns3="804a83ad-ae26-4a15-861e-76ace231eacf" xmlns:ns4="43cebbc4-89d0-4312-9e9e-1761e04dfd01" targetNamespace="http://schemas.microsoft.com/office/2006/metadata/properties" ma:root="true" ma:fieldsID="f8d8e3c821f7c54e801873bedd92a365" ns3:_="" ns4:_="">
    <xsd:import namespace="804a83ad-ae26-4a15-861e-76ace231eacf"/>
    <xsd:import namespace="43cebbc4-89d0-4312-9e9e-1761e04dfd0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4a83ad-ae26-4a15-861e-76ace231ea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description="" ma:hidden="true" ma:indexed="true" ma:internalName="MediaServiceDateTaken" ma:readOnly="true">
      <xsd:simpleType>
        <xsd:restriction base="dms:Text"/>
      </xsd:simpleType>
    </xsd:element>
    <xsd:element name="MediaServiceLocation" ma:index="20" nillable="true" ma:displayName="Location" ma:description="" ma:indexed="true"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3cebbc4-89d0-4312-9e9e-1761e04dfd0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87F91C-EFA8-4056-AF46-1714AC79ABD7}">
  <ds:schemaRefs>
    <ds:schemaRef ds:uri="http://www.w3.org/XML/1998/namespace"/>
    <ds:schemaRef ds:uri="43cebbc4-89d0-4312-9e9e-1761e04dfd01"/>
    <ds:schemaRef ds:uri="http://schemas.openxmlformats.org/package/2006/metadata/core-properties"/>
    <ds:schemaRef ds:uri="http://purl.org/dc/dcmitype/"/>
    <ds:schemaRef ds:uri="http://schemas.microsoft.com/office/2006/metadata/properties"/>
    <ds:schemaRef ds:uri="http://schemas.microsoft.com/office/2006/documentManagement/types"/>
    <ds:schemaRef ds:uri="http://purl.org/dc/elements/1.1/"/>
    <ds:schemaRef ds:uri="http://schemas.microsoft.com/office/infopath/2007/PartnerControls"/>
    <ds:schemaRef ds:uri="804a83ad-ae26-4a15-861e-76ace231eacf"/>
    <ds:schemaRef ds:uri="http://purl.org/dc/terms/"/>
  </ds:schemaRefs>
</ds:datastoreItem>
</file>

<file path=customXml/itemProps2.xml><?xml version="1.0" encoding="utf-8"?>
<ds:datastoreItem xmlns:ds="http://schemas.openxmlformats.org/officeDocument/2006/customXml" ds:itemID="{F63D0329-005B-4FA1-A957-1A2852A80ADE}">
  <ds:schemaRefs>
    <ds:schemaRef ds:uri="http://schemas.microsoft.com/sharepoint/v3/contenttype/forms"/>
  </ds:schemaRefs>
</ds:datastoreItem>
</file>

<file path=customXml/itemProps3.xml><?xml version="1.0" encoding="utf-8"?>
<ds:datastoreItem xmlns:ds="http://schemas.openxmlformats.org/officeDocument/2006/customXml" ds:itemID="{E8C75DB2-EEF3-40FF-99B8-F20E06F26080}">
  <ds:schemaRefs>
    <ds:schemaRef ds:uri="43cebbc4-89d0-4312-9e9e-1761e04dfd01"/>
    <ds:schemaRef ds:uri="804a83ad-ae26-4a15-861e-76ace231eac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1360</Words>
  <Application>Microsoft Office PowerPoint</Application>
  <PresentationFormat>Widescreen</PresentationFormat>
  <Paragraphs>106</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Aptos Slab ExtraBold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Sivan Spiel</dc:creator>
  <cp:lastModifiedBy>Rachel Lee</cp:lastModifiedBy>
  <cp:revision>7</cp:revision>
  <dcterms:created xsi:type="dcterms:W3CDTF">2025-11-15T15:03:53Z</dcterms:created>
  <dcterms:modified xsi:type="dcterms:W3CDTF">2026-08-27T19:21:37Z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0x010100724D3E6A17C4EB42BF84C73DEB4DE165</vt:lpwstr>
  </property>
</Properties>
</file>